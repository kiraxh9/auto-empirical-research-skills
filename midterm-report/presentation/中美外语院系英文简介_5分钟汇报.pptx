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" y="0"/>
            <a:ext cx="50292" cy="1234440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94944" y="475488"/>
            <a:ext cx="3429000" cy="384048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475488"/>
            <a:ext cx="313639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本科生创新训练培育项目｜中期汇报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280160"/>
            <a:ext cx="7086600" cy="1938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324D"/>
                </a:solidFill>
                <a:latin typeface="Microsoft YaHei"/>
              </a:rPr>
              <a:t>基于语料库技术的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324D"/>
                </a:solidFill>
                <a:latin typeface="Microsoft YaHei"/>
              </a:rPr>
              <a:t>中美外语院系英文简介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324D"/>
                </a:solidFill>
                <a:latin typeface="Microsoft YaHei"/>
              </a:rPr>
              <a:t>话语比较分析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38144"/>
            <a:ext cx="6995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2748A"/>
                </a:solidFill>
                <a:latin typeface="Microsoft YaHei"/>
              </a:rPr>
              <a:t>中美高校外语院系英文 About Us 文本的语料库辅助比较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977639"/>
            <a:ext cx="594360" cy="411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4279392"/>
            <a:ext cx="1627632" cy="941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370832"/>
            <a:ext cx="1627632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3568A8"/>
                </a:solidFill>
                <a:latin typeface="Microsoft YaHei"/>
              </a:rPr>
              <a:t>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828032"/>
            <a:ext cx="16276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个院系文本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15184" y="4279392"/>
            <a:ext cx="1847088" cy="941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15184" y="4370832"/>
            <a:ext cx="1847088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3568A8"/>
                </a:solidFill>
                <a:latin typeface="Microsoft YaHei"/>
              </a:rPr>
              <a:t>30＋30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15184" y="4828032"/>
            <a:ext cx="18470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中美样本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09160" y="4279392"/>
            <a:ext cx="1627632" cy="941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09160" y="4370832"/>
            <a:ext cx="1627632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3568A8"/>
                </a:solidFill>
                <a:latin typeface="Microsoft YaHei"/>
              </a:rP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4828032"/>
            <a:ext cx="16276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核心语步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868680"/>
            <a:ext cx="3246120" cy="4937760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540496" y="1243584"/>
            <a:ext cx="2624328" cy="1344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14232" y="1417320"/>
            <a:ext cx="77724" cy="77724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878824" y="1417320"/>
            <a:ext cx="77724" cy="77724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043415" y="1417320"/>
            <a:ext cx="77724" cy="77724"/>
          </a:xfrm>
          <a:prstGeom prst="ellipse">
            <a:avLst/>
          </a:prstGeom>
          <a:solidFill>
            <a:srgbClr val="2B7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23376" y="1645920"/>
            <a:ext cx="224942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324D"/>
                </a:solidFill>
                <a:latin typeface="Microsoft YaHei"/>
              </a:rPr>
              <a:t>About Us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732520" y="2084831"/>
            <a:ext cx="1993392" cy="50292"/>
          </a:xfrm>
          <a:prstGeom prst="roundRect">
            <a:avLst/>
          </a:prstGeom>
          <a:solidFill>
            <a:srgbClr val="D8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732520" y="2240280"/>
            <a:ext cx="1481328" cy="50292"/>
          </a:xfrm>
          <a:prstGeom prst="roundRect">
            <a:avLst/>
          </a:prstGeom>
          <a:solidFill>
            <a:srgbClr val="D8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58784" y="28254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2748A"/>
                </a:solidFill>
                <a:latin typeface="Microsoft YaHei"/>
              </a:rPr>
              <a:t>研究路径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40496" y="3182112"/>
            <a:ext cx="2624328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686800" y="3282696"/>
            <a:ext cx="310896" cy="310896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0" y="32826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62288" y="3218688"/>
            <a:ext cx="171907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324D"/>
                </a:solidFill>
                <a:latin typeface="Microsoft YaHei"/>
              </a:rPr>
              <a:t>语步分布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540496" y="3840480"/>
            <a:ext cx="2624328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686800" y="3941064"/>
            <a:ext cx="310896" cy="310896"/>
          </a:xfrm>
          <a:prstGeom prst="ellipse">
            <a:avLst/>
          </a:prstGeom>
          <a:solidFill>
            <a:srgbClr val="2B7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0" y="394106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62288" y="3877056"/>
            <a:ext cx="171907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324D"/>
                </a:solidFill>
                <a:latin typeface="Microsoft YaHei"/>
              </a:rPr>
              <a:t>语言实现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40496" y="4498848"/>
            <a:ext cx="2624328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686800" y="4599432"/>
            <a:ext cx="310896" cy="310896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0" y="459943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62288" y="4535424"/>
            <a:ext cx="171907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324D"/>
                </a:solidFill>
                <a:latin typeface="Microsoft YaHei"/>
              </a:rPr>
              <a:t>语境解释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58784" y="5285232"/>
            <a:ext cx="25786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2748A"/>
                </a:solidFill>
                <a:latin typeface="Microsoft YaHei"/>
              </a:rPr>
              <a:t>MOVE · LANGUAGE · CONTEXT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31520" y="5760720"/>
            <a:ext cx="10744200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31520" y="5961888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7324D"/>
                </a:solidFill>
                <a:latin typeface="Microsoft YaHei"/>
              </a:rPr>
              <a:t>外语学院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" y="6336792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汇报人：________　　指导教师：________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92640" y="63093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2026年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60" y="630936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01 / 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" y="0"/>
            <a:ext cx="50292" cy="8412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68A8"/>
                </a:solidFill>
                <a:latin typeface="Microsoft YaHei"/>
              </a:rPr>
              <a:t>01　项目概览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68096"/>
            <a:ext cx="58521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7324D"/>
                </a:solidFill>
                <a:latin typeface="Microsoft YaHei"/>
              </a:rPr>
              <a:t>项目整体路线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07592"/>
            <a:ext cx="10515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3364A"/>
                </a:solidFill>
                <a:latin typeface="Microsoft YaHei"/>
              </a:rPr>
              <a:t>定量比较已完成，下一阶段由“描述差异”转向“解释差异与策略转化”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73936"/>
            <a:ext cx="594360" cy="411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354312" y="521207"/>
            <a:ext cx="109728" cy="109728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28048" y="448056"/>
            <a:ext cx="7132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已完成</a:t>
            </a:r>
          </a:p>
        </p:txBody>
      </p:sp>
      <p:sp>
        <p:nvSpPr>
          <p:cNvPr id="11" name="Oval 10"/>
          <p:cNvSpPr/>
          <p:nvPr/>
        </p:nvSpPr>
        <p:spPr>
          <a:xfrm>
            <a:off x="10360152" y="521207"/>
            <a:ext cx="109728" cy="109728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33888" y="448056"/>
            <a:ext cx="9326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下一阶段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011680"/>
            <a:ext cx="1901952" cy="3200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2011680"/>
            <a:ext cx="1901952" cy="64008"/>
          </a:xfrm>
          <a:prstGeom prst="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96112" y="2240280"/>
            <a:ext cx="658368" cy="274320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2240280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已完成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2679192"/>
            <a:ext cx="11430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568A8"/>
                </a:solidFill>
                <a:latin typeface="Microsoft YaHei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3264408"/>
            <a:ext cx="15819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324D"/>
                </a:solidFill>
                <a:latin typeface="Microsoft YaHei"/>
              </a:rPr>
              <a:t>语料构建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3822191"/>
            <a:ext cx="158191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中国、美国各30个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外语院系英文简介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96112" y="4690872"/>
            <a:ext cx="1572768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96112" y="4809744"/>
            <a:ext cx="158191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568A8"/>
                </a:solidFill>
                <a:latin typeface="Microsoft YaHei"/>
              </a:rPr>
              <a:t>60个院系文本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07792" y="2011680"/>
            <a:ext cx="1901952" cy="3200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07792" y="2011680"/>
            <a:ext cx="1901952" cy="64008"/>
          </a:xfrm>
          <a:prstGeom prst="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072384" y="2240280"/>
            <a:ext cx="658368" cy="274320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72384" y="2240280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已完成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72384" y="2679192"/>
            <a:ext cx="11430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568A8"/>
                </a:solidFill>
                <a:latin typeface="Microsoft YaHei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72384" y="3264408"/>
            <a:ext cx="15819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324D"/>
                </a:solidFill>
                <a:latin typeface="Microsoft YaHei"/>
              </a:rPr>
              <a:t>框架与校订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72384" y="3822191"/>
            <a:ext cx="158191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AI预标注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人工逐篇校订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072384" y="4690872"/>
            <a:ext cx="1572768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072384" y="4809744"/>
            <a:ext cx="158191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568A8"/>
                </a:solidFill>
                <a:latin typeface="Microsoft YaHei"/>
              </a:rPr>
              <a:t>10个核心语步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84064" y="2011680"/>
            <a:ext cx="1901952" cy="3200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84064" y="2011680"/>
            <a:ext cx="1901952" cy="64008"/>
          </a:xfrm>
          <a:prstGeom prst="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248655" y="2240280"/>
            <a:ext cx="658368" cy="274320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48655" y="2240280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已完成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48655" y="2679192"/>
            <a:ext cx="11430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568A8"/>
                </a:solidFill>
                <a:latin typeface="Microsoft YaHei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48655" y="3264408"/>
            <a:ext cx="15819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324D"/>
                </a:solidFill>
                <a:latin typeface="Microsoft YaHei"/>
              </a:rPr>
              <a:t>语步分布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48655" y="3822191"/>
            <a:ext cx="158191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出现率 · 篇幅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开篇位置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248655" y="4690872"/>
            <a:ext cx="1572768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248655" y="4809744"/>
            <a:ext cx="158191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568A8"/>
                </a:solidFill>
                <a:latin typeface="Microsoft YaHei"/>
              </a:rPr>
              <a:t>比较结构组织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260336" y="2011680"/>
            <a:ext cx="1901952" cy="3200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260336" y="2011680"/>
            <a:ext cx="1901952" cy="64008"/>
          </a:xfrm>
          <a:prstGeom prst="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424928" y="2240280"/>
            <a:ext cx="658368" cy="274320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24928" y="2240280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已完成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24928" y="2679192"/>
            <a:ext cx="11430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568A8"/>
                </a:solidFill>
                <a:latin typeface="Microsoft YaHei"/>
              </a:rPr>
              <a:t>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24928" y="3264408"/>
            <a:ext cx="15819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324D"/>
                </a:solidFill>
                <a:latin typeface="Microsoft YaHei"/>
              </a:rPr>
              <a:t>语言实现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24928" y="3822191"/>
            <a:ext cx="158191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关键词 · 词丛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搭配与语义组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424928" y="4690872"/>
            <a:ext cx="1572768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424928" y="4809744"/>
            <a:ext cx="158191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568A8"/>
                </a:solidFill>
                <a:latin typeface="Microsoft YaHei"/>
              </a:rPr>
              <a:t>聚焦4个核心语步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436608" y="2011680"/>
            <a:ext cx="1901952" cy="3200400"/>
          </a:xfrm>
          <a:prstGeom prst="roundRect">
            <a:avLst/>
          </a:prstGeom>
          <a:solidFill>
            <a:srgbClr val="FFF3E5"/>
          </a:solidFill>
          <a:ln w="12700">
            <a:solidFill>
              <a:srgbClr val="E3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436608" y="2011680"/>
            <a:ext cx="1901952" cy="6400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9601200" y="2240280"/>
            <a:ext cx="786384" cy="274320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601200" y="2240280"/>
            <a:ext cx="78638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下一阶段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1200" y="2679192"/>
            <a:ext cx="11430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38B36"/>
                </a:solidFill>
                <a:latin typeface="Microsoft YaHei"/>
              </a:rPr>
              <a:t>05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264408"/>
            <a:ext cx="15819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324D"/>
                </a:solidFill>
                <a:latin typeface="Microsoft YaHei"/>
              </a:rPr>
              <a:t>语境与转化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01200" y="3822191"/>
            <a:ext cx="158191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跨文化话语分析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批评话语分析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社会文化语境解释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9601200" y="4690872"/>
            <a:ext cx="1572768" cy="0"/>
          </a:xfrm>
          <a:prstGeom prst="line">
            <a:avLst/>
          </a:prstGeom>
          <a:ln w="10160">
            <a:solidFill>
              <a:srgbClr val="E38B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9601200" y="4809744"/>
            <a:ext cx="158191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38B36"/>
                </a:solidFill>
                <a:latin typeface="Microsoft YaHei"/>
              </a:rPr>
              <a:t>策略建议库 · 论文</a:t>
            </a:r>
          </a:p>
        </p:txBody>
      </p:sp>
      <p:sp>
        <p:nvSpPr>
          <p:cNvPr id="58" name="Chevron 57"/>
          <p:cNvSpPr/>
          <p:nvPr/>
        </p:nvSpPr>
        <p:spPr>
          <a:xfrm>
            <a:off x="2697480" y="3429000"/>
            <a:ext cx="146304" cy="310896"/>
          </a:xfrm>
          <a:prstGeom prst="chevron">
            <a:avLst/>
          </a:prstGeom>
          <a:solidFill>
            <a:srgbClr val="D8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Chevron 58"/>
          <p:cNvSpPr/>
          <p:nvPr/>
        </p:nvSpPr>
        <p:spPr>
          <a:xfrm>
            <a:off x="4873752" y="3429000"/>
            <a:ext cx="146304" cy="310896"/>
          </a:xfrm>
          <a:prstGeom prst="chevron">
            <a:avLst/>
          </a:prstGeom>
          <a:solidFill>
            <a:srgbClr val="D8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Chevron 59"/>
          <p:cNvSpPr/>
          <p:nvPr/>
        </p:nvSpPr>
        <p:spPr>
          <a:xfrm>
            <a:off x="7050024" y="3429000"/>
            <a:ext cx="146304" cy="310896"/>
          </a:xfrm>
          <a:prstGeom prst="chevron">
            <a:avLst/>
          </a:prstGeom>
          <a:solidFill>
            <a:srgbClr val="D8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Chevron 60"/>
          <p:cNvSpPr/>
          <p:nvPr/>
        </p:nvSpPr>
        <p:spPr>
          <a:xfrm>
            <a:off x="9226296" y="3429000"/>
            <a:ext cx="146304" cy="310896"/>
          </a:xfrm>
          <a:prstGeom prst="chevron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31520" y="5468112"/>
            <a:ext cx="10607040" cy="438912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14400" y="5468112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568A8"/>
                </a:solidFill>
                <a:latin typeface="Microsoft YaHei"/>
              </a:rPr>
              <a:t>本次汇报重点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57984" y="5468112"/>
            <a:ext cx="8869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3364A"/>
                </a:solidFill>
                <a:latin typeface="Microsoft YaHei"/>
              </a:rPr>
              <a:t>03 语步分布　·　04 语言实现　　｜　　05 语境与转化为下一阶段计划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731520" y="6144768"/>
            <a:ext cx="10744200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731520" y="6318504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2748A"/>
                </a:solidFill>
                <a:latin typeface="Microsoft YaHei"/>
              </a:rPr>
              <a:t>基于语料库技术的中美外语院系英文简介话语比较分析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881360" y="6318504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02 / 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基于语料库技术的中美外语院系英文简介话语比较分析</dc:title>
  <dc:subject>本科生创新训练培育项目中期汇报</dc:subject>
  <dc:creator>项目组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