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1234440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" y="475488"/>
            <a:ext cx="3429000" cy="3840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75488"/>
            <a:ext cx="31363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本科生创新训练培育项目｜中期汇报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280160"/>
            <a:ext cx="7086600" cy="1938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基于语料库技术的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中美外语院系英文简介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话语比较分析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38144"/>
            <a:ext cx="6995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中美高校外语院系英文 About Us 文本的语料库辅助比较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个院系文本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15184" y="4279392"/>
            <a:ext cx="1847088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4370832"/>
            <a:ext cx="184708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30＋30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4828032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中美样本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核心语步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868680"/>
            <a:ext cx="3246120" cy="493776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40496" y="1243584"/>
            <a:ext cx="2624328" cy="1344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14232" y="1417320"/>
            <a:ext cx="77724" cy="77724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78824" y="1417320"/>
            <a:ext cx="77724" cy="77724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043415" y="1417320"/>
            <a:ext cx="77724" cy="77724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1645920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324D"/>
                </a:solidFill>
                <a:latin typeface="Microsoft YaHei"/>
              </a:rPr>
              <a:t>About Us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2084831"/>
            <a:ext cx="1993392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32520" y="2240280"/>
            <a:ext cx="1481328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58784" y="2825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2748A"/>
                </a:solidFill>
                <a:latin typeface="Microsoft YaHei"/>
              </a:rPr>
              <a:t>研究路径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0496" y="3182112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0" y="3282696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32826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3218688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语步分布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40496" y="3840480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686800" y="3941064"/>
            <a:ext cx="310896" cy="310896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94106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3877056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语言实现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0496" y="4498848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6800" y="4599432"/>
            <a:ext cx="310896" cy="310896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994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2288" y="4535424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语境解释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58784" y="528523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MOVE · LANGUAGE · CONTEXT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1520" y="5760720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1520" y="5961888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324D"/>
                </a:solidFill>
                <a:latin typeface="Microsoft YaHei"/>
              </a:rPr>
              <a:t>外语学院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336792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汇报人：________　　指导教师：________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63093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2026年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3093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01　研究定位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研究内容与目标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围绕五个相互关联的维度，比较中美外语院系英文简介的机构话语建构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研究内容｜五个比较维度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5915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46888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688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42316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体裁构成与语步模式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6" y="242316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顺序 · 篇幅 · 出现率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10896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089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06324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教育理念与培养目标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4256" y="306324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核心能力 · 工具性—人文性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63931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3749039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74903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370332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学科形象与学术身份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6" y="370332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评价表达 · 自我指称 · 名词化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7939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4400" y="438912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434340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国际化表述策略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6" y="434340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理想主义 · 工具主义 · 教育主义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91947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4400" y="5029200"/>
            <a:ext cx="310896" cy="310896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02920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888" y="498348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多语种资源与跨学科整合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6" y="498348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语种资源 · 学科融合 · 社会服务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90688" y="1965960"/>
            <a:ext cx="3547872" cy="359359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157984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研究目标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6720" y="2587752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46720" y="2587752"/>
            <a:ext cx="612648" cy="749808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0" y="2587752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描述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2248" y="2651760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识别文本结构与语言表达的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共性及差异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3493008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46720" y="3493008"/>
            <a:ext cx="612648" cy="749808"/>
          </a:xfrm>
          <a:prstGeom prst="roundRect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0" y="3493008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解释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2248" y="3557016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联系社会文化与制度语境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阐释差异成因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46720" y="4398264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046720" y="4398264"/>
            <a:ext cx="612648" cy="749808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0" y="4398264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转化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42248" y="4462272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形成话语策略建议库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与研究论文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02　项目概览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项目整体路线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定量比较已完成，下一阶段由“描述差异”转向“解释差异与策略转化”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54312" y="521207"/>
            <a:ext cx="109728" cy="109728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8048" y="448056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已完成</a:t>
            </a:r>
          </a:p>
        </p:txBody>
      </p:sp>
      <p:sp>
        <p:nvSpPr>
          <p:cNvPr id="11" name="Oval 10"/>
          <p:cNvSpPr/>
          <p:nvPr/>
        </p:nvSpPr>
        <p:spPr>
          <a:xfrm>
            <a:off x="10360152" y="521207"/>
            <a:ext cx="109728" cy="109728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33888" y="448056"/>
            <a:ext cx="932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下一阶段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112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语料构建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中国、美国各30个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外语院系英文简介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96112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60个院系文本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07792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072384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72384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72384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72384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框架与校订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72384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AI预标注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人工逐篇校订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72384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072384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10个核心语步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84064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84064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248655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48655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48655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48655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语步分布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48655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出现率 · 篇幅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开篇位置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48655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248655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比较结构组织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60336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0336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424928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24928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24928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24928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语言实现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4928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关键词 · 词丛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搭配与语义组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24928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424928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聚焦4个核心语步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36608" y="2011680"/>
            <a:ext cx="1901952" cy="3200400"/>
          </a:xfrm>
          <a:prstGeom prst="roundRect">
            <a:avLst/>
          </a:prstGeom>
          <a:solidFill>
            <a:srgbClr val="FFF3E5"/>
          </a:solidFill>
          <a:ln w="12700">
            <a:solidFill>
              <a:srgbClr val="E3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436608" y="2011680"/>
            <a:ext cx="1901952" cy="6400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601200" y="2240280"/>
            <a:ext cx="786384" cy="27432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0" y="2240280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下一阶段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38B36"/>
                </a:solidFill>
                <a:latin typeface="Microsoft YaHei"/>
              </a:rPr>
              <a:t>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语境与转化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0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跨文化话语分析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批评话语分析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社会文化语境解释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601200" y="4690872"/>
            <a:ext cx="1572768" cy="0"/>
          </a:xfrm>
          <a:prstGeom prst="line">
            <a:avLst/>
          </a:prstGeom>
          <a:ln w="10160">
            <a:solidFill>
              <a:srgbClr val="E38B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601200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38B36"/>
                </a:solidFill>
                <a:latin typeface="Microsoft YaHei"/>
              </a:rPr>
              <a:t>策略建议库 · 论文</a:t>
            </a:r>
          </a:p>
        </p:txBody>
      </p:sp>
      <p:sp>
        <p:nvSpPr>
          <p:cNvPr id="58" name="Chevron 57"/>
          <p:cNvSpPr/>
          <p:nvPr/>
        </p:nvSpPr>
        <p:spPr>
          <a:xfrm>
            <a:off x="2697480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hevron 58"/>
          <p:cNvSpPr/>
          <p:nvPr/>
        </p:nvSpPr>
        <p:spPr>
          <a:xfrm>
            <a:off x="4873752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hevron 59"/>
          <p:cNvSpPr/>
          <p:nvPr/>
        </p:nvSpPr>
        <p:spPr>
          <a:xfrm>
            <a:off x="7050024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hevron 60"/>
          <p:cNvSpPr/>
          <p:nvPr/>
        </p:nvSpPr>
        <p:spPr>
          <a:xfrm>
            <a:off x="9226296" y="3429000"/>
            <a:ext cx="146304" cy="310896"/>
          </a:xfrm>
          <a:prstGeom prst="chevron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31520" y="5468112"/>
            <a:ext cx="10607040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4400" y="54681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本次汇报重点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57984" y="5468112"/>
            <a:ext cx="8869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3364A"/>
                </a:solidFill>
                <a:latin typeface="Microsoft YaHei"/>
              </a:rPr>
              <a:t>03 语步分布　·　04 语言实现　　｜　　05 语境与转化为下一阶段计划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03　研究设计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78638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样本、语步与人机协作校订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以院系级文本为比较单位，后续统计与语言分析均基于人工校订标签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011680"/>
            <a:ext cx="2514600" cy="3584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212848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01　语料样本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633472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17324D"/>
                </a:solidFill>
                <a:latin typeface="Microsoft YaHei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32004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个院系文本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0976" y="3593592"/>
            <a:ext cx="2066544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50976" y="3794760"/>
            <a:ext cx="2066543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5568" y="3941063"/>
            <a:ext cx="128016" cy="12801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794760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324D"/>
                </a:solidFill>
                <a:latin typeface="Microsoft YaHei"/>
              </a:rPr>
              <a:t>中国　30个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" y="4361688"/>
            <a:ext cx="2066543" cy="438912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5568" y="4507992"/>
            <a:ext cx="128016" cy="128016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361688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324D"/>
                </a:solidFill>
                <a:latin typeface="Microsoft YaHei"/>
              </a:rPr>
              <a:t>美国　30个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983480"/>
            <a:ext cx="20665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官方网站英文 About 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257800"/>
            <a:ext cx="20665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院系级聚合文本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0" y="2011680"/>
            <a:ext cx="4663440" cy="3584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4176" y="2212848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02　语步框架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212848"/>
            <a:ext cx="25054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24个细类 → 10个核心语步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694176" y="2596896"/>
            <a:ext cx="422452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94176" y="2770632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2770632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机构身份与组织治理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94176" y="3145536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694176" y="3236976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3236976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历史沿革与学脉传承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94176" y="3611880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694176" y="3703320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3703320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使命愿景与公共价值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94176" y="4078224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694176" y="4169663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169663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学科价值与研究取向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694176" y="4544568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694176" y="4636008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4636008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课程教学与培养目标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5583" y="2770632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36207" y="2770632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师资与办学支撑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15583" y="3145536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815583" y="3236976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6207" y="3236976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办学声誉与育人成效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815583" y="3611880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815583" y="3703320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7" y="3703320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合作网络与社会服务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815583" y="4078224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815583" y="4169663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6207" y="4169663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受众互动与行动引导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15583" y="4544568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815583" y="4636008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7" y="4636008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信息导引与运行通告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94176" y="5257800"/>
            <a:ext cx="42245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完整语步定义与语阶见附录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66760" y="2011680"/>
            <a:ext cx="2971800" cy="3584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86216" y="2212848"/>
            <a:ext cx="25328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03　人机协作校订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622792" y="2660904"/>
            <a:ext cx="2459736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22792" y="2660904"/>
            <a:ext cx="2459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568A8"/>
                </a:solidFill>
                <a:latin typeface="Microsoft YaHei"/>
              </a:rPr>
              <a:t>AI预标注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22792" y="3374136"/>
            <a:ext cx="2459736" cy="4389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22792" y="3374136"/>
            <a:ext cx="2459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7324D"/>
                </a:solidFill>
                <a:latin typeface="Microsoft YaHei"/>
              </a:rPr>
              <a:t>人工逐篇审阅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622792" y="4087368"/>
            <a:ext cx="2459736" cy="438912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22792" y="4087368"/>
            <a:ext cx="2459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38B36"/>
                </a:solidFill>
                <a:latin typeface="Microsoft YaHei"/>
              </a:rPr>
              <a:t>立即修改并保存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37776" y="3099816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37776" y="3813048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↓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22792" y="4754880"/>
            <a:ext cx="2459736" cy="621792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22792" y="4818888"/>
            <a:ext cx="24597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YaHei"/>
              </a:rPr>
              <a:t>最终分析对象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22792" y="5010912"/>
            <a:ext cx="2459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人工校订标签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04　研究结果｜语步分布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96926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语步出现率：美国文本的覆盖更稳定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中美样本共享10个语步，国别差距主要集中于M09、M08与M03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993392"/>
            <a:ext cx="7452360" cy="3767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671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文本出现率（%）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2221992"/>
            <a:ext cx="146304" cy="91440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43016" y="2139696"/>
            <a:ext cx="5669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中国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47104" y="2221992"/>
            <a:ext cx="146304" cy="9144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139696"/>
            <a:ext cx="65836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美国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2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21615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9179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69062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25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6626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16509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4073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3956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75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1403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2706624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17320" y="2720340"/>
            <a:ext cx="530809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0275" y="269748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90.0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7320" y="2834640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0064" y="281178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2990088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17320" y="3003804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74906" y="298094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17320" y="3118104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75433" y="309524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3273552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17320" y="3287268"/>
            <a:ext cx="4523673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95857" y="326440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76.7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17320" y="3401568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75433" y="337870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" y="3557015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17320" y="3570732"/>
            <a:ext cx="530809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0275" y="354787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90.0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17320" y="3685031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70064" y="3662171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" y="3840480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17320" y="3854196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74906" y="383133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17320" y="3968496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394563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4123944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17320" y="4137660"/>
            <a:ext cx="5113461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5645" y="411480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86.7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17320" y="4251960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75433" y="422910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4407408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17320" y="4421124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74906" y="439826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17320" y="4535424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70064" y="451256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" y="4690872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M08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17320" y="4704588"/>
            <a:ext cx="3344097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16281" y="468172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56.7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417320" y="4818888"/>
            <a:ext cx="5502722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74906" y="479602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2688" y="4974336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M09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17320" y="4988052"/>
            <a:ext cx="1769364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41548" y="496519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30.0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417320" y="5102352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75433" y="507949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2688" y="5257800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M10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417320" y="5271516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74906" y="524865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417320" y="5385816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70064" y="536295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66760" y="1993392"/>
            <a:ext cx="2971800" cy="3767328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86216" y="2167128"/>
            <a:ext cx="253288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关键差距（百分点）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86216" y="2633472"/>
            <a:ext cx="2532888" cy="7680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50808" y="27249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M09　受众互动与行动引导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50808" y="3026664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3364A"/>
                </a:solidFill>
                <a:latin typeface="Microsoft YaHei"/>
              </a:rPr>
              <a:t>30.0% → 96.7%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41280" y="299923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8B36"/>
                </a:solidFill>
                <a:latin typeface="Microsoft YaHei"/>
              </a:rPr>
              <a:t>+66.7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586216" y="3547872"/>
            <a:ext cx="2532888" cy="7680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750808" y="36393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M08　合作网络与社会服务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50808" y="3941063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3364A"/>
                </a:solidFill>
                <a:latin typeface="Microsoft YaHei"/>
              </a:rPr>
              <a:t>56.7% → 93.3%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241280" y="391363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8B36"/>
                </a:solidFill>
                <a:latin typeface="Microsoft YaHei"/>
              </a:rPr>
              <a:t>+36.7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586216" y="4462272"/>
            <a:ext cx="2532888" cy="7680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750808" y="45537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M03　使命愿景与公共价值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50808" y="4855464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3364A"/>
                </a:solidFill>
                <a:latin typeface="Microsoft YaHei"/>
              </a:rPr>
              <a:t>76.7% → 96.7%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41280" y="482803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8B36"/>
                </a:solidFill>
                <a:latin typeface="Microsoft YaHei"/>
              </a:rPr>
              <a:t>+20.0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86216" y="5431536"/>
            <a:ext cx="2532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其余7个语步差距均≤10个百分点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8096" y="5852160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注：出现率为该国30个文本中包含相应语步的文本比例。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04　研究结果｜语步分布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篇幅与开篇：M05为共同核心，开篇功能不同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M05的篇幅占比中位数在两国均约20%；M02更常开启中国文本，M05更常开启美国文本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993392"/>
            <a:ext cx="6995160" cy="3767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671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语步词数占比中位数（%）</a:t>
            </a:r>
          </a:p>
        </p:txBody>
      </p:sp>
      <p:sp>
        <p:nvSpPr>
          <p:cNvPr id="11" name="Oval 10"/>
          <p:cNvSpPr/>
          <p:nvPr/>
        </p:nvSpPr>
        <p:spPr>
          <a:xfrm>
            <a:off x="5413248" y="2221992"/>
            <a:ext cx="109728" cy="109728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6984" y="213969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中国</a:t>
            </a:r>
          </a:p>
        </p:txBody>
      </p:sp>
      <p:sp>
        <p:nvSpPr>
          <p:cNvPr id="13" name="Oval 12"/>
          <p:cNvSpPr/>
          <p:nvPr/>
        </p:nvSpPr>
        <p:spPr>
          <a:xfrm>
            <a:off x="6272784" y="2221992"/>
            <a:ext cx="109728" cy="109728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13969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美国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767328"/>
            <a:ext cx="6537960" cy="25603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389888" y="2633472"/>
            <a:ext cx="0" cy="2852928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88720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43278" y="2633472"/>
            <a:ext cx="0" cy="2852928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342110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96669" y="2633472"/>
            <a:ext cx="0" cy="2852928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95501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10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50060" y="2633472"/>
            <a:ext cx="0" cy="2852928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4889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15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03451" y="2633472"/>
            <a:ext cx="0" cy="2852928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802283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0205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871418" y="2807208"/>
            <a:ext cx="141360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2811982" y="274777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953342" y="274777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297637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M02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2728951" y="3081528"/>
            <a:ext cx="731850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3401365" y="302209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669515" y="302209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" y="325069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M03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017240" y="3355848"/>
            <a:ext cx="235476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1957804" y="329641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193280" y="329641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352501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M04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214588" y="3630168"/>
            <a:ext cx="1421139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4155152" y="357073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576291" y="357073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" y="379933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M05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5784607" y="3904488"/>
            <a:ext cx="352268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077439" y="384505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725171" y="384505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09119" y="3817620"/>
            <a:ext cx="36576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38B36"/>
                </a:solidFill>
                <a:latin typeface="Microsoft YaHei"/>
              </a:rPr>
              <a:t>19.1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46603" y="3817620"/>
            <a:ext cx="36576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568A8"/>
                </a:solidFill>
                <a:latin typeface="Microsoft YaHei"/>
              </a:rPr>
              <a:t>20.6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688" y="407365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M06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602194" y="4178808"/>
            <a:ext cx="179098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2542758" y="411937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721856" y="411937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2688" y="434797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M07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3499255" y="4453128"/>
            <a:ext cx="1374242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4814061" y="439369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439819" y="439369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" y="462229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M08</a:t>
            </a:r>
          </a:p>
        </p:txBody>
      </p:sp>
      <p:cxnSp>
        <p:nvCxnSpPr>
          <p:cNvPr id="57" name="Connector 56"/>
          <p:cNvCxnSpPr/>
          <p:nvPr/>
        </p:nvCxnSpPr>
        <p:spPr>
          <a:xfrm flipH="1">
            <a:off x="1852697" y="4727448"/>
            <a:ext cx="62306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855567" y="466801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793261" y="466801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2688" y="489661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M09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389888" y="5001768"/>
            <a:ext cx="866035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330452" y="4942331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196487" y="4942331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2688" y="517093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M10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196018" y="5276088"/>
            <a:ext cx="1432581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4136582" y="521665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569163" y="521665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41832" y="5513832"/>
            <a:ext cx="6446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568A8"/>
                </a:solidFill>
                <a:latin typeface="Microsoft YaHei"/>
              </a:rPr>
              <a:t>M05　课程教学与培养目标：在两组文本中均居篇幅占比首位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936992" y="1993392"/>
            <a:ext cx="3401568" cy="3767328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83879" y="2167128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开篇比例（%）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83879" y="2633472"/>
            <a:ext cx="2907792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39327" y="2724912"/>
            <a:ext cx="25968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M02　历史沿革与学脉传承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39327" y="3017520"/>
            <a:ext cx="3474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中国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732520" y="3067812"/>
            <a:ext cx="1099748" cy="91440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87132" y="3035808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568A8"/>
                </a:solidFill>
                <a:latin typeface="Microsoft YaHei"/>
              </a:rPr>
              <a:t>63.3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39327" y="3291839"/>
            <a:ext cx="3474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美国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732520" y="3342132"/>
            <a:ext cx="404804" cy="9144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92188" y="3310127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38B36"/>
                </a:solidFill>
                <a:latin typeface="Microsoft YaHei"/>
              </a:rPr>
              <a:t>23.3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9327" y="3593591"/>
            <a:ext cx="2596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3568A8"/>
                </a:solidFill>
                <a:latin typeface="Microsoft YaHei"/>
              </a:rPr>
              <a:t>中国更常以历史开篇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183879" y="3986783"/>
            <a:ext cx="2907792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39327" y="4078223"/>
            <a:ext cx="25968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M05　课程教学与培养目标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39327" y="4370831"/>
            <a:ext cx="3474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中国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732520" y="4421123"/>
            <a:ext cx="116403" cy="91440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903787" y="4389119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568A8"/>
                </a:solidFill>
                <a:latin typeface="Microsoft YaHei"/>
              </a:rPr>
              <a:t>6.7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39327" y="4645151"/>
            <a:ext cx="3474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美国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732520" y="4695443"/>
            <a:ext cx="463875" cy="9144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251259" y="4663439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38B36"/>
                </a:solidFill>
                <a:latin typeface="Microsoft YaHei"/>
              </a:rPr>
              <a:t>26.7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39327" y="4946903"/>
            <a:ext cx="2596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38B36"/>
                </a:solidFill>
                <a:latin typeface="Microsoft YaHei"/>
              </a:rPr>
              <a:t>美国更常以课程教学开篇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83879" y="5376672"/>
            <a:ext cx="29077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62748A"/>
                </a:solidFill>
                <a:latin typeface="Microsoft YaHei"/>
              </a:rPr>
              <a:t>开篇＝该语步为文本首个语步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62748A"/>
                </a:solidFill>
                <a:latin typeface="Microsoft YaHei"/>
              </a:rPr>
              <a:t>完整首次位置热图见附录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8096" y="5852160"/>
            <a:ext cx="7040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注：篇幅占比＝语步词数／文本独立词数，图中取各组中位数。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05　研究结果｜语言实现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9875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语言实现：相同语步，不同表达重心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关键词差异主要体现在议题选择与语义组合，而非语步是否出现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993392"/>
            <a:ext cx="5193792" cy="16642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993392"/>
            <a:ext cx="5193792" cy="5486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305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568A8"/>
                </a:solidFill>
                <a:latin typeface="Microsoft YaHei"/>
              </a:rPr>
              <a:t>M03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130552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使命愿景与公共价值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4400" y="2459736"/>
            <a:ext cx="4828032" cy="0"/>
          </a:xfrm>
          <a:prstGeom prst="line">
            <a:avLst/>
          </a:prstGeom>
          <a:ln w="889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2551176"/>
            <a:ext cx="493776" cy="237744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551176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中国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2542032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人才培养与国际／国家指向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2816352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talents · cultivate · aims · international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108960"/>
            <a:ext cx="493776" cy="237744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108960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8B36"/>
                </a:solidFill>
                <a:latin typeface="Microsoft YaHei"/>
              </a:rPr>
              <a:t>美国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099816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公共价值与共同体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37413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diversity · equity · inclusion · community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1993392"/>
            <a:ext cx="5193792" cy="16642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1993392"/>
            <a:ext cx="5193792" cy="5486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7648" y="21305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568A8"/>
                </a:solidFill>
                <a:latin typeface="Microsoft YaHei"/>
              </a:rPr>
              <a:t>M04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2130552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学科价值与研究取向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327648" y="2459736"/>
            <a:ext cx="4828032" cy="0"/>
          </a:xfrm>
          <a:prstGeom prst="line">
            <a:avLst/>
          </a:prstGeom>
          <a:ln w="889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327648" y="2551176"/>
            <a:ext cx="493776" cy="237744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2551176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中国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542032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学科名称与研究范畴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2816352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foreign · translation · linguistics · literature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27648" y="3108960"/>
            <a:ext cx="493776" cy="237744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3108960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8B36"/>
                </a:solidFill>
                <a:latin typeface="Microsoft YaHei"/>
              </a:rPr>
              <a:t>美国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099816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研究主题与兴趣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37413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historical · gender · race · art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3858768"/>
            <a:ext cx="5193792" cy="16642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" y="3858768"/>
            <a:ext cx="5193792" cy="5486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39959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568A8"/>
                </a:solidFill>
                <a:latin typeface="Microsoft YaHei"/>
              </a:rPr>
              <a:t>M05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17904" y="3995928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课程教学与培养目标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4325112"/>
            <a:ext cx="4828032" cy="0"/>
          </a:xfrm>
          <a:prstGeom prst="line">
            <a:avLst/>
          </a:prstGeom>
          <a:ln w="889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14400" y="4416552"/>
            <a:ext cx="493776" cy="237744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416552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中国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36192" y="4407408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项目供给与能力培养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36192" y="4681728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doctoral · teaching · talents · cross-cultural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" y="4974336"/>
            <a:ext cx="493776" cy="237744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974336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8B36"/>
                </a:solidFill>
                <a:latin typeface="Microsoft YaHei"/>
              </a:rPr>
              <a:t>美国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36192" y="4965192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学习机会与职业发展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36192" y="5239512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minor · offerings · seminar · opportunities · careers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44768" y="3858768"/>
            <a:ext cx="5193792" cy="16642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44768" y="3858768"/>
            <a:ext cx="5193792" cy="5486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27648" y="39959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568A8"/>
                </a:solidFill>
                <a:latin typeface="Microsoft YaHei"/>
              </a:rPr>
              <a:t>M08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3995928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合作网络与社会服务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27648" y="4325112"/>
            <a:ext cx="4828032" cy="0"/>
          </a:xfrm>
          <a:prstGeom prst="line">
            <a:avLst/>
          </a:prstGeom>
          <a:ln w="889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6327648" y="4416552"/>
            <a:ext cx="493776" cy="237744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27648" y="4416552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中国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49440" y="4407408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国际交流、合作与培训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49440" y="4681728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international · exchange · cooperation · joint · training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27648" y="4974336"/>
            <a:ext cx="493776" cy="237744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27648" y="4974336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8B36"/>
                </a:solidFill>
                <a:latin typeface="Microsoft YaHei"/>
              </a:rPr>
              <a:t>美国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49440" y="4965192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海外学习与公共参与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49440" y="5239512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abroad · outreach · community · engagement · public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" y="5760720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注：页面列出代表性区分词项；完整每万词频次、log2比率与BH校正q值见附录。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07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基于语料库技术的中美外语院系英文简介话语比较分析</dc:title>
  <dc:subject>本科生创新训练培育项目中期汇报</dc:subject>
  <dc:creator>项目组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