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1234440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475488"/>
            <a:ext cx="3429000" cy="3840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75488"/>
            <a:ext cx="31363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本科生创新训练培育项目｜中期汇报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280160"/>
            <a:ext cx="7086600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基于语料库技术的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中美外语院系英文简介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话语比较分析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38144"/>
            <a:ext cx="6995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中美高校外语院系英文 About Us 文本的语料库辅助比较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15184" y="4279392"/>
            <a:ext cx="1847088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4370832"/>
            <a:ext cx="184708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30＋30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4828032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中美样本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核心语步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868680"/>
            <a:ext cx="3246120" cy="493776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40496" y="1243584"/>
            <a:ext cx="2624328" cy="1344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14232" y="1417320"/>
            <a:ext cx="77724" cy="77724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78824" y="1417320"/>
            <a:ext cx="77724" cy="77724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43415" y="1417320"/>
            <a:ext cx="77724" cy="77724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1645920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324D"/>
                </a:solidFill>
                <a:latin typeface="Microsoft YaHei"/>
              </a:rPr>
              <a:t>About 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2084831"/>
            <a:ext cx="1993392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32520" y="2240280"/>
            <a:ext cx="1481328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58784" y="2825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2748A"/>
                </a:solidFill>
                <a:latin typeface="Microsoft YaHei"/>
              </a:rPr>
              <a:t>研究路径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0496" y="3182112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0" y="3282696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2826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3218688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40496" y="3840480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686800" y="3941064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94106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3877056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0496" y="4498848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0" y="4599432"/>
            <a:ext cx="310896" cy="31089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994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2288" y="4535424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语境解释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58784" y="528523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MOVE · LANGUAGE · CONTEXT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1520" y="5760720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1520" y="5961888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324D"/>
                </a:solidFill>
                <a:latin typeface="Microsoft YaHei"/>
              </a:rPr>
              <a:t>外语学院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33679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汇报人：________　　指导教师：________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63093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2026年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3093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01　研究定位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研究内容与目标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围绕五个相互关联的维度，比较中美外语院系英文简介的机构话语建构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研究内容｜五个比较维度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5915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46888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68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42316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体裁构成与语步模式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42316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顺序 · 篇幅 · 出现率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10896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089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06324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教育理念与培养目标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306324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核心能力 · 工具性—人文性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63931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3749039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74903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70332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学科形象与学术身份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6" y="370332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评价表达 · 自我指称 · 名词化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7939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4400" y="438912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434340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国际化表述策略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6" y="434340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理想主义 · 工具主义 · 教育主义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91947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400" y="5029200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0292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498348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多语种资源与跨学科整合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6" y="498348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语种资源 · 学科融合 · 社会服务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90688" y="1965960"/>
            <a:ext cx="3547872" cy="359359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157984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研究目标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0" y="2587752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46720" y="2587752"/>
            <a:ext cx="612648" cy="749808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2587752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描述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2248" y="2651760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识别文本结构与语言表达的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共性及差异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493008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46720" y="3493008"/>
            <a:ext cx="612648" cy="749808"/>
          </a:xfrm>
          <a:prstGeom prst="roundRect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0" y="3493008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解释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2248" y="3557016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联系社会文化与制度语境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阐释差异成因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4398264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046720" y="4398264"/>
            <a:ext cx="612648" cy="749808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4398264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转化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4462272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形成话语策略建议库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与研究论文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02　项目概览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项目整体路线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定量比较已完成，下一阶段由“描述差异”转向“解释差异与策略转化”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54312" y="521207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8048" y="448056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已完成</a:t>
            </a:r>
          </a:p>
        </p:txBody>
      </p:sp>
      <p:sp>
        <p:nvSpPr>
          <p:cNvPr id="11" name="Oval 10"/>
          <p:cNvSpPr/>
          <p:nvPr/>
        </p:nvSpPr>
        <p:spPr>
          <a:xfrm>
            <a:off x="10360152" y="521207"/>
            <a:ext cx="109728" cy="109728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3888" y="448056"/>
            <a:ext cx="932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下一阶段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2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语料构建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中国、美国各30个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外语院系英文简介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96112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60个院系文本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7792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72384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72384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72384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72384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框架与校订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72384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AI预标注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人工逐篇校订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72384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072384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10个核心语步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84064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84064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48655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48655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8655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48655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48655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出现率 · 篇幅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开篇位置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48655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248655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比较结构组织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0336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0336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24928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24928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24928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24928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8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关键词 · 词丛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搭配与语义组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24928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424928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聚焦4个核心语步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36608" y="2011680"/>
            <a:ext cx="1901952" cy="3200400"/>
          </a:xfrm>
          <a:prstGeom prst="roundRect">
            <a:avLst/>
          </a:prstGeom>
          <a:solidFill>
            <a:srgbClr val="FFF3E5"/>
          </a:solidFill>
          <a:ln w="12700">
            <a:solidFill>
              <a:srgbClr val="E3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436608" y="2011680"/>
            <a:ext cx="1901952" cy="6400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601200" y="2240280"/>
            <a:ext cx="786384" cy="27432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0" y="2240280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下一阶段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38B36"/>
                </a:solidFill>
                <a:latin typeface="Microsoft YaHei"/>
              </a:rPr>
              <a:t>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语境与转化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跨文化话语分析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批评话语分析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社会文化语境解释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601200" y="4690872"/>
            <a:ext cx="1572768" cy="0"/>
          </a:xfrm>
          <a:prstGeom prst="line">
            <a:avLst/>
          </a:prstGeom>
          <a:ln w="10160">
            <a:solidFill>
              <a:srgbClr val="E38B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601200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38B36"/>
                </a:solidFill>
                <a:latin typeface="Microsoft YaHei"/>
              </a:rPr>
              <a:t>策略建议库 · 论文</a:t>
            </a:r>
          </a:p>
        </p:txBody>
      </p:sp>
      <p:sp>
        <p:nvSpPr>
          <p:cNvPr id="58" name="Chevron 57"/>
          <p:cNvSpPr/>
          <p:nvPr/>
        </p:nvSpPr>
        <p:spPr>
          <a:xfrm>
            <a:off x="2697480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evron 58"/>
          <p:cNvSpPr/>
          <p:nvPr/>
        </p:nvSpPr>
        <p:spPr>
          <a:xfrm>
            <a:off x="4873752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hevron 59"/>
          <p:cNvSpPr/>
          <p:nvPr/>
        </p:nvSpPr>
        <p:spPr>
          <a:xfrm>
            <a:off x="7050024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hevron 60"/>
          <p:cNvSpPr/>
          <p:nvPr/>
        </p:nvSpPr>
        <p:spPr>
          <a:xfrm>
            <a:off x="9226296" y="3429000"/>
            <a:ext cx="146304" cy="310896"/>
          </a:xfrm>
          <a:prstGeom prst="chevron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31520" y="5468112"/>
            <a:ext cx="10607040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54681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本次汇报重点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57984" y="5468112"/>
            <a:ext cx="8869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3364A"/>
                </a:solidFill>
                <a:latin typeface="Microsoft YaHei"/>
              </a:rPr>
              <a:t>03 语步分布　·　04 语言实现　　｜　　05 语境与转化为下一阶段计划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03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基于语料库技术的中美外语院系英文简介话语比较分析</dc:title>
  <dc:subject>本科生创新训练培育项目中期汇报</dc:subject>
  <dc:creator>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