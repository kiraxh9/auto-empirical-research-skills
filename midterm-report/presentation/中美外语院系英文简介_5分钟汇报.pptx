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" y="0"/>
            <a:ext cx="50292" cy="1234440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94944" y="475488"/>
            <a:ext cx="3429000" cy="384048"/>
          </a:xfrm>
          <a:prstGeom prst="round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475488"/>
            <a:ext cx="313639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本科生创新训练培育项目｜中期汇报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280160"/>
            <a:ext cx="7086600" cy="1938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324D"/>
                </a:solidFill>
                <a:latin typeface="Microsoft YaHei"/>
              </a:rPr>
              <a:t>基于语料库技术的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324D"/>
                </a:solidFill>
                <a:latin typeface="Microsoft YaHei"/>
              </a:rPr>
              <a:t>中美外语院系英文简介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324D"/>
                </a:solidFill>
                <a:latin typeface="Microsoft YaHei"/>
              </a:rPr>
              <a:t>话语比较分析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438144"/>
            <a:ext cx="6995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2748A"/>
                </a:solidFill>
                <a:latin typeface="Microsoft YaHei"/>
              </a:rPr>
              <a:t>中美高校外语院系英文 About Us 文本的语料库辅助比较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977639"/>
            <a:ext cx="594360" cy="41148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4279392"/>
            <a:ext cx="1627632" cy="941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370832"/>
            <a:ext cx="1627632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3568A8"/>
                </a:solidFill>
                <a:latin typeface="Microsoft YaHei"/>
              </a:rPr>
              <a:t>60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828032"/>
            <a:ext cx="16276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个院系文本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15184" y="4279392"/>
            <a:ext cx="1847088" cy="941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15184" y="4370832"/>
            <a:ext cx="1847088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3568A8"/>
                </a:solidFill>
                <a:latin typeface="Microsoft YaHei"/>
              </a:rPr>
              <a:t>30＋30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15184" y="4828032"/>
            <a:ext cx="184708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中美样本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09160" y="4279392"/>
            <a:ext cx="1627632" cy="941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09160" y="4370832"/>
            <a:ext cx="1627632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3568A8"/>
                </a:solidFill>
                <a:latin typeface="Microsoft YaHei"/>
              </a:rPr>
              <a:t>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60" y="4828032"/>
            <a:ext cx="16276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核心语步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868680"/>
            <a:ext cx="3246120" cy="4937760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540496" y="1243584"/>
            <a:ext cx="2624328" cy="13441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714232" y="1417320"/>
            <a:ext cx="77724" cy="77724"/>
          </a:xfrm>
          <a:prstGeom prst="ellipse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878824" y="1417320"/>
            <a:ext cx="77724" cy="77724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043415" y="1417320"/>
            <a:ext cx="77724" cy="77724"/>
          </a:xfrm>
          <a:prstGeom prst="ellipse">
            <a:avLst/>
          </a:prstGeom>
          <a:solidFill>
            <a:srgbClr val="2B7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23376" y="1645920"/>
            <a:ext cx="224942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324D"/>
                </a:solidFill>
                <a:latin typeface="Microsoft YaHei"/>
              </a:rPr>
              <a:t>About Us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732520" y="2084831"/>
            <a:ext cx="1993392" cy="50292"/>
          </a:xfrm>
          <a:prstGeom prst="roundRect">
            <a:avLst/>
          </a:prstGeom>
          <a:solidFill>
            <a:srgbClr val="D8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732520" y="2240280"/>
            <a:ext cx="1481328" cy="50292"/>
          </a:xfrm>
          <a:prstGeom prst="roundRect">
            <a:avLst/>
          </a:prstGeom>
          <a:solidFill>
            <a:srgbClr val="D8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58784" y="28254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2748A"/>
                </a:solidFill>
                <a:latin typeface="Microsoft YaHei"/>
              </a:rPr>
              <a:t>研究路径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40496" y="3182112"/>
            <a:ext cx="2624328" cy="51206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686800" y="3282696"/>
            <a:ext cx="310896" cy="310896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0" y="32826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62288" y="3218688"/>
            <a:ext cx="171907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324D"/>
                </a:solidFill>
                <a:latin typeface="Microsoft YaHei"/>
              </a:rPr>
              <a:t>语步分布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540496" y="3840480"/>
            <a:ext cx="2624328" cy="51206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686800" y="3941064"/>
            <a:ext cx="310896" cy="310896"/>
          </a:xfrm>
          <a:prstGeom prst="ellipse">
            <a:avLst/>
          </a:prstGeom>
          <a:solidFill>
            <a:srgbClr val="2B7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0" y="394106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62288" y="3877056"/>
            <a:ext cx="171907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324D"/>
                </a:solidFill>
                <a:latin typeface="Microsoft YaHei"/>
              </a:rPr>
              <a:t>语言实现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40496" y="4498848"/>
            <a:ext cx="2624328" cy="51206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686800" y="4599432"/>
            <a:ext cx="310896" cy="310896"/>
          </a:xfrm>
          <a:prstGeom prst="ellipse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0" y="459943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62288" y="4535424"/>
            <a:ext cx="171907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324D"/>
                </a:solidFill>
                <a:latin typeface="Microsoft YaHei"/>
              </a:rPr>
              <a:t>语境解释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58784" y="5285232"/>
            <a:ext cx="25786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2748A"/>
                </a:solidFill>
                <a:latin typeface="Microsoft YaHei"/>
              </a:rPr>
              <a:t>MOVE · LANGUAGE · CONTEXT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31520" y="5760720"/>
            <a:ext cx="10744200" cy="0"/>
          </a:xfrm>
          <a:prstGeom prst="line">
            <a:avLst/>
          </a:prstGeom>
          <a:ln w="1016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731520" y="5961888"/>
            <a:ext cx="2743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7324D"/>
                </a:solidFill>
                <a:latin typeface="Microsoft YaHei"/>
              </a:rPr>
              <a:t>外语学院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" y="6336792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汇报人：________　　指导教师：________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92640" y="63093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2026年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60" y="630936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01 / 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" y="0"/>
            <a:ext cx="50292" cy="841248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3891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68A8"/>
                </a:solidFill>
                <a:latin typeface="Microsoft YaHei"/>
              </a:rPr>
              <a:t>01　研究定位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68096"/>
            <a:ext cx="58521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7324D"/>
                </a:solidFill>
                <a:latin typeface="Microsoft YaHei"/>
              </a:rPr>
              <a:t>研究内容与目标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07592"/>
            <a:ext cx="10515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3364A"/>
                </a:solidFill>
                <a:latin typeface="Microsoft YaHei"/>
              </a:rPr>
              <a:t>围绕五个相互关联的维度，比较中美外语院系英文简介的机构话语建构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773936"/>
            <a:ext cx="594360" cy="41148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65960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568A8"/>
                </a:solidFill>
                <a:latin typeface="Microsoft YaHei"/>
              </a:rPr>
              <a:t>研究内容｜五个比较维度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359152"/>
            <a:ext cx="6729984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" y="2468880"/>
            <a:ext cx="310896" cy="310896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46888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423160"/>
            <a:ext cx="29077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7324D"/>
                </a:solidFill>
                <a:latin typeface="Microsoft YaHei"/>
              </a:rPr>
              <a:t>体裁构成与语步模式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4256" y="2423160"/>
            <a:ext cx="29077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顺序 · 篇幅 · 出现率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2999232"/>
            <a:ext cx="6729984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4400" y="3108960"/>
            <a:ext cx="310896" cy="310896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10896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89888" y="3063240"/>
            <a:ext cx="29077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7324D"/>
                </a:solidFill>
                <a:latin typeface="Microsoft YaHei"/>
              </a:rPr>
              <a:t>教育理念与培养目标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4256" y="3063240"/>
            <a:ext cx="29077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核心能力 · 工具性—人文性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639312"/>
            <a:ext cx="6729984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3749039"/>
            <a:ext cx="310896" cy="310896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374903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9888" y="3703320"/>
            <a:ext cx="29077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7324D"/>
                </a:solidFill>
                <a:latin typeface="Microsoft YaHei"/>
              </a:rPr>
              <a:t>学科形象与学术身份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34256" y="3703320"/>
            <a:ext cx="29077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评价表达 · 自我指称 · 名词化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279392"/>
            <a:ext cx="6729984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4400" y="4389120"/>
            <a:ext cx="310896" cy="310896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43891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89888" y="4343400"/>
            <a:ext cx="29077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7324D"/>
                </a:solidFill>
                <a:latin typeface="Microsoft YaHei"/>
              </a:rPr>
              <a:t>国际化表述策略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256" y="4343400"/>
            <a:ext cx="29077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理想主义 · 工具主义 · 教育主义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4919472"/>
            <a:ext cx="6729984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14400" y="5029200"/>
            <a:ext cx="310896" cy="310896"/>
          </a:xfrm>
          <a:prstGeom prst="ellipse">
            <a:avLst/>
          </a:prstGeom>
          <a:solidFill>
            <a:srgbClr val="2B7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502920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Microsoft YaHei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89888" y="4983480"/>
            <a:ext cx="29077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7324D"/>
                </a:solidFill>
                <a:latin typeface="Microsoft YaHei"/>
              </a:rPr>
              <a:t>多语种资源与跨学科整合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34256" y="4983480"/>
            <a:ext cx="29077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语种资源 · 学科融合 · 社会服务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90688" y="1965960"/>
            <a:ext cx="3547872" cy="3593592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0" y="2157984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568A8"/>
                </a:solidFill>
                <a:latin typeface="Microsoft YaHei"/>
              </a:rPr>
              <a:t>研究目标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46720" y="2587752"/>
            <a:ext cx="3035808" cy="74980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046720" y="2587752"/>
            <a:ext cx="612648" cy="749808"/>
          </a:xfrm>
          <a:prstGeom prst="round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46720" y="2587752"/>
            <a:ext cx="61264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描述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42248" y="2651760"/>
            <a:ext cx="201168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3364A"/>
                </a:solidFill>
                <a:latin typeface="Microsoft YaHei"/>
              </a:rPr>
              <a:t>识别文本结构与语言表达的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3364A"/>
                </a:solidFill>
                <a:latin typeface="Microsoft YaHei"/>
              </a:rPr>
              <a:t>共性及差异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046720" y="3493008"/>
            <a:ext cx="3035808" cy="74980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046720" y="3493008"/>
            <a:ext cx="612648" cy="749808"/>
          </a:xfrm>
          <a:prstGeom prst="roundRect">
            <a:avLst/>
          </a:prstGeom>
          <a:solidFill>
            <a:srgbClr val="2B7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46720" y="3493008"/>
            <a:ext cx="61264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解释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842248" y="3557016"/>
            <a:ext cx="201168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3364A"/>
                </a:solidFill>
                <a:latin typeface="Microsoft YaHei"/>
              </a:rPr>
              <a:t>联系社会文化与制度语境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3364A"/>
                </a:solidFill>
                <a:latin typeface="Microsoft YaHei"/>
              </a:rPr>
              <a:t>阐释差异成因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46720" y="4398264"/>
            <a:ext cx="3035808" cy="74980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046720" y="4398264"/>
            <a:ext cx="612648" cy="749808"/>
          </a:xfrm>
          <a:prstGeom prst="round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046720" y="4398264"/>
            <a:ext cx="61264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转化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42248" y="4462272"/>
            <a:ext cx="201168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3364A"/>
                </a:solidFill>
                <a:latin typeface="Microsoft YaHei"/>
              </a:rPr>
              <a:t>形成话语策略建议库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3364A"/>
                </a:solidFill>
                <a:latin typeface="Microsoft YaHei"/>
              </a:rPr>
              <a:t>与研究论文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31520" y="6144768"/>
            <a:ext cx="10744200" cy="0"/>
          </a:xfrm>
          <a:prstGeom prst="line">
            <a:avLst/>
          </a:prstGeom>
          <a:ln w="1016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731520" y="6318504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2748A"/>
                </a:solidFill>
                <a:latin typeface="Microsoft YaHei"/>
              </a:rPr>
              <a:t>基于语料库技术的中美外语院系英文简介话语比较分析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881360" y="6318504"/>
            <a:ext cx="594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02 / 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" y="0"/>
            <a:ext cx="50292" cy="841248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3891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68A8"/>
                </a:solidFill>
                <a:latin typeface="Microsoft YaHei"/>
              </a:rPr>
              <a:t>02　项目概览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68096"/>
            <a:ext cx="58521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7324D"/>
                </a:solidFill>
                <a:latin typeface="Microsoft YaHei"/>
              </a:rPr>
              <a:t>项目整体路线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07592"/>
            <a:ext cx="10515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3364A"/>
                </a:solidFill>
                <a:latin typeface="Microsoft YaHei"/>
              </a:rPr>
              <a:t>定量比较已完成，下一阶段由“描述差异”转向“解释差异与策略转化”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773936"/>
            <a:ext cx="594360" cy="41148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354312" y="521207"/>
            <a:ext cx="109728" cy="109728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28048" y="448056"/>
            <a:ext cx="7132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已完成</a:t>
            </a:r>
          </a:p>
        </p:txBody>
      </p:sp>
      <p:sp>
        <p:nvSpPr>
          <p:cNvPr id="11" name="Oval 10"/>
          <p:cNvSpPr/>
          <p:nvPr/>
        </p:nvSpPr>
        <p:spPr>
          <a:xfrm>
            <a:off x="10360152" y="521207"/>
            <a:ext cx="109728" cy="109728"/>
          </a:xfrm>
          <a:prstGeom prst="ellipse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33888" y="448056"/>
            <a:ext cx="93268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下一阶段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011680"/>
            <a:ext cx="1901952" cy="3200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2011680"/>
            <a:ext cx="1901952" cy="64008"/>
          </a:xfrm>
          <a:prstGeom prst="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96112" y="2240280"/>
            <a:ext cx="658368" cy="274320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2240280"/>
            <a:ext cx="65836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568A8"/>
                </a:solidFill>
                <a:latin typeface="Microsoft YaHei"/>
              </a:rPr>
              <a:t>已完成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2679192"/>
            <a:ext cx="114300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568A8"/>
                </a:solidFill>
                <a:latin typeface="Microsoft YaHei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3264408"/>
            <a:ext cx="158191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7324D"/>
                </a:solidFill>
                <a:latin typeface="Microsoft YaHei"/>
              </a:rPr>
              <a:t>语料构建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3822191"/>
            <a:ext cx="1581912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中国、美国各30个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外语院系英文简介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96112" y="4690872"/>
            <a:ext cx="1572768" cy="0"/>
          </a:xfrm>
          <a:prstGeom prst="line">
            <a:avLst/>
          </a:prstGeom>
          <a:ln w="1016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96112" y="4809744"/>
            <a:ext cx="158191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568A8"/>
                </a:solidFill>
                <a:latin typeface="Microsoft YaHei"/>
              </a:rPr>
              <a:t>60个院系文本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907792" y="2011680"/>
            <a:ext cx="1901952" cy="3200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07792" y="2011680"/>
            <a:ext cx="1901952" cy="64008"/>
          </a:xfrm>
          <a:prstGeom prst="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072384" y="2240280"/>
            <a:ext cx="658368" cy="274320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72384" y="2240280"/>
            <a:ext cx="65836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568A8"/>
                </a:solidFill>
                <a:latin typeface="Microsoft YaHei"/>
              </a:rPr>
              <a:t>已完成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72384" y="2679192"/>
            <a:ext cx="114300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568A8"/>
                </a:solidFill>
                <a:latin typeface="Microsoft YaHei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72384" y="3264408"/>
            <a:ext cx="158191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7324D"/>
                </a:solidFill>
                <a:latin typeface="Microsoft YaHei"/>
              </a:rPr>
              <a:t>框架与校订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72384" y="3822191"/>
            <a:ext cx="1581912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AI预标注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人工逐篇校订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072384" y="4690872"/>
            <a:ext cx="1572768" cy="0"/>
          </a:xfrm>
          <a:prstGeom prst="line">
            <a:avLst/>
          </a:prstGeom>
          <a:ln w="1016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072384" y="4809744"/>
            <a:ext cx="158191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568A8"/>
                </a:solidFill>
                <a:latin typeface="Microsoft YaHei"/>
              </a:rPr>
              <a:t>10个核心语步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84064" y="2011680"/>
            <a:ext cx="1901952" cy="3200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84064" y="2011680"/>
            <a:ext cx="1901952" cy="64008"/>
          </a:xfrm>
          <a:prstGeom prst="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248655" y="2240280"/>
            <a:ext cx="658368" cy="274320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48655" y="2240280"/>
            <a:ext cx="65836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568A8"/>
                </a:solidFill>
                <a:latin typeface="Microsoft YaHei"/>
              </a:rPr>
              <a:t>已完成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48655" y="2679192"/>
            <a:ext cx="114300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568A8"/>
                </a:solidFill>
                <a:latin typeface="Microsoft YaHei"/>
              </a:rPr>
              <a:t>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48655" y="3264408"/>
            <a:ext cx="158191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7324D"/>
                </a:solidFill>
                <a:latin typeface="Microsoft YaHei"/>
              </a:rPr>
              <a:t>语步分布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48655" y="3822191"/>
            <a:ext cx="1581912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出现率 · 篇幅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开篇位置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248655" y="4690872"/>
            <a:ext cx="1572768" cy="0"/>
          </a:xfrm>
          <a:prstGeom prst="line">
            <a:avLst/>
          </a:prstGeom>
          <a:ln w="1016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248655" y="4809744"/>
            <a:ext cx="158191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568A8"/>
                </a:solidFill>
                <a:latin typeface="Microsoft YaHei"/>
              </a:rPr>
              <a:t>比较结构组织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260336" y="2011680"/>
            <a:ext cx="1901952" cy="3200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260336" y="2011680"/>
            <a:ext cx="1901952" cy="64008"/>
          </a:xfrm>
          <a:prstGeom prst="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424928" y="2240280"/>
            <a:ext cx="658368" cy="274320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424928" y="2240280"/>
            <a:ext cx="65836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568A8"/>
                </a:solidFill>
                <a:latin typeface="Microsoft YaHei"/>
              </a:rPr>
              <a:t>已完成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24928" y="2679192"/>
            <a:ext cx="114300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568A8"/>
                </a:solidFill>
                <a:latin typeface="Microsoft YaHei"/>
              </a:rPr>
              <a:t>04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24928" y="3264408"/>
            <a:ext cx="158191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7324D"/>
                </a:solidFill>
                <a:latin typeface="Microsoft YaHei"/>
              </a:rPr>
              <a:t>语言实现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24928" y="3822191"/>
            <a:ext cx="1581912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关键词 · 词丛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搭配与语义组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7424928" y="4690872"/>
            <a:ext cx="1572768" cy="0"/>
          </a:xfrm>
          <a:prstGeom prst="line">
            <a:avLst/>
          </a:prstGeom>
          <a:ln w="1016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7424928" y="4809744"/>
            <a:ext cx="158191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568A8"/>
                </a:solidFill>
                <a:latin typeface="Microsoft YaHei"/>
              </a:rPr>
              <a:t>聚焦4个核心语步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436608" y="2011680"/>
            <a:ext cx="1901952" cy="3200400"/>
          </a:xfrm>
          <a:prstGeom prst="roundRect">
            <a:avLst/>
          </a:prstGeom>
          <a:solidFill>
            <a:srgbClr val="FFF3E5"/>
          </a:solidFill>
          <a:ln w="12700">
            <a:solidFill>
              <a:srgbClr val="E3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436608" y="2011680"/>
            <a:ext cx="1901952" cy="64008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9601200" y="2240280"/>
            <a:ext cx="786384" cy="274320"/>
          </a:xfrm>
          <a:prstGeom prst="round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601200" y="2240280"/>
            <a:ext cx="78638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</a:rPr>
              <a:t>下一阶段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01200" y="2679192"/>
            <a:ext cx="114300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E38B36"/>
                </a:solidFill>
                <a:latin typeface="Microsoft YaHei"/>
              </a:rPr>
              <a:t>05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264408"/>
            <a:ext cx="158191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7324D"/>
                </a:solidFill>
                <a:latin typeface="Microsoft YaHei"/>
              </a:rPr>
              <a:t>语境与转化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01200" y="3822191"/>
            <a:ext cx="1581912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跨文化话语分析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批评话语分析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社会文化语境解释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9601200" y="4690872"/>
            <a:ext cx="1572768" cy="0"/>
          </a:xfrm>
          <a:prstGeom prst="line">
            <a:avLst/>
          </a:prstGeom>
          <a:ln w="10160">
            <a:solidFill>
              <a:srgbClr val="E38B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9601200" y="4809744"/>
            <a:ext cx="158191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E38B36"/>
                </a:solidFill>
                <a:latin typeface="Microsoft YaHei"/>
              </a:rPr>
              <a:t>策略建议库 · 论文</a:t>
            </a:r>
          </a:p>
        </p:txBody>
      </p:sp>
      <p:sp>
        <p:nvSpPr>
          <p:cNvPr id="58" name="Chevron 57"/>
          <p:cNvSpPr/>
          <p:nvPr/>
        </p:nvSpPr>
        <p:spPr>
          <a:xfrm>
            <a:off x="2697480" y="3429000"/>
            <a:ext cx="146304" cy="310896"/>
          </a:xfrm>
          <a:prstGeom prst="chevron">
            <a:avLst/>
          </a:prstGeom>
          <a:solidFill>
            <a:srgbClr val="D8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Chevron 58"/>
          <p:cNvSpPr/>
          <p:nvPr/>
        </p:nvSpPr>
        <p:spPr>
          <a:xfrm>
            <a:off x="4873752" y="3429000"/>
            <a:ext cx="146304" cy="310896"/>
          </a:xfrm>
          <a:prstGeom prst="chevron">
            <a:avLst/>
          </a:prstGeom>
          <a:solidFill>
            <a:srgbClr val="D8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Chevron 59"/>
          <p:cNvSpPr/>
          <p:nvPr/>
        </p:nvSpPr>
        <p:spPr>
          <a:xfrm>
            <a:off x="7050024" y="3429000"/>
            <a:ext cx="146304" cy="310896"/>
          </a:xfrm>
          <a:prstGeom prst="chevron">
            <a:avLst/>
          </a:prstGeom>
          <a:solidFill>
            <a:srgbClr val="D8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Chevron 60"/>
          <p:cNvSpPr/>
          <p:nvPr/>
        </p:nvSpPr>
        <p:spPr>
          <a:xfrm>
            <a:off x="9226296" y="3429000"/>
            <a:ext cx="146304" cy="310896"/>
          </a:xfrm>
          <a:prstGeom prst="chevron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731520" y="5468112"/>
            <a:ext cx="10607040" cy="438912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14400" y="5468112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568A8"/>
                </a:solidFill>
                <a:latin typeface="Microsoft YaHei"/>
              </a:rPr>
              <a:t>本次汇报重点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157984" y="5468112"/>
            <a:ext cx="8869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3364A"/>
                </a:solidFill>
                <a:latin typeface="Microsoft YaHei"/>
              </a:rPr>
              <a:t>03 语步分布　·　04 语言实现　　｜　　05 语境与转化为下一阶段计划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731520" y="6144768"/>
            <a:ext cx="10744200" cy="0"/>
          </a:xfrm>
          <a:prstGeom prst="line">
            <a:avLst/>
          </a:prstGeom>
          <a:ln w="1016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731520" y="6318504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2748A"/>
                </a:solidFill>
                <a:latin typeface="Microsoft YaHei"/>
              </a:rPr>
              <a:t>基于语料库技术的中美外语院系英文简介话语比较分析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881360" y="6318504"/>
            <a:ext cx="594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03 / 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" y="0"/>
            <a:ext cx="50292" cy="841248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3891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68A8"/>
                </a:solidFill>
                <a:latin typeface="Microsoft YaHei"/>
              </a:rPr>
              <a:t>03　研究设计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68096"/>
            <a:ext cx="786384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7324D"/>
                </a:solidFill>
                <a:latin typeface="Microsoft YaHei"/>
              </a:rPr>
              <a:t>样本、语步与人机协作校订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07592"/>
            <a:ext cx="10515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3364A"/>
                </a:solidFill>
                <a:latin typeface="Microsoft YaHei"/>
              </a:rPr>
              <a:t>以院系级文本为比较单位，后续统计与语言分析均基于人工校订标签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773936"/>
            <a:ext cx="594360" cy="41148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2011680"/>
            <a:ext cx="2514600" cy="3584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212848"/>
            <a:ext cx="2057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568A8"/>
                </a:solidFill>
                <a:latin typeface="Microsoft YaHei"/>
              </a:rPr>
              <a:t>01　语料样本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633472"/>
            <a:ext cx="20574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17324D"/>
                </a:solidFill>
                <a:latin typeface="Microsoft YaHei"/>
              </a:rPr>
              <a:t>60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320040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个院系文本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50976" y="3593592"/>
            <a:ext cx="2066544" cy="0"/>
          </a:xfrm>
          <a:prstGeom prst="line">
            <a:avLst/>
          </a:prstGeom>
          <a:ln w="1016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50976" y="3794760"/>
            <a:ext cx="2066543" cy="438912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15568" y="3941063"/>
            <a:ext cx="128016" cy="128016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0" y="3794760"/>
            <a:ext cx="144475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7324D"/>
                </a:solidFill>
                <a:latin typeface="Microsoft YaHei"/>
              </a:rPr>
              <a:t>中国　30个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0976" y="4361688"/>
            <a:ext cx="2066543" cy="438912"/>
          </a:xfrm>
          <a:prstGeom prst="roundRect">
            <a:avLst/>
          </a:prstGeom>
          <a:solidFill>
            <a:srgbClr val="FFF3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15568" y="4507992"/>
            <a:ext cx="128016" cy="128016"/>
          </a:xfrm>
          <a:prstGeom prst="ellipse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71600" y="4361688"/>
            <a:ext cx="144475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7324D"/>
                </a:solidFill>
                <a:latin typeface="Microsoft YaHei"/>
              </a:rPr>
              <a:t>美国　30个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" y="4983480"/>
            <a:ext cx="20665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2748A"/>
                </a:solidFill>
                <a:latin typeface="Microsoft YaHei"/>
              </a:rPr>
              <a:t>官方网站英文 About 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" y="5257800"/>
            <a:ext cx="20665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568A8"/>
                </a:solidFill>
                <a:latin typeface="Microsoft YaHei"/>
              </a:rPr>
              <a:t>院系级聚合文本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74720" y="2011680"/>
            <a:ext cx="4663440" cy="3584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94176" y="2212848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568A8"/>
                </a:solidFill>
                <a:latin typeface="Microsoft YaHei"/>
              </a:rPr>
              <a:t>02　语步框架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2212848"/>
            <a:ext cx="250545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24个细类 → 10个核心语步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694176" y="2596896"/>
            <a:ext cx="4224528" cy="0"/>
          </a:xfrm>
          <a:prstGeom prst="line">
            <a:avLst/>
          </a:prstGeom>
          <a:ln w="1016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694176" y="2770632"/>
            <a:ext cx="3931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568A8"/>
                </a:solidFill>
                <a:latin typeface="Microsoft YaHei"/>
              </a:rPr>
              <a:t>M01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0" y="2770632"/>
            <a:ext cx="15910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3364A"/>
                </a:solidFill>
                <a:latin typeface="Microsoft YaHei"/>
              </a:rPr>
              <a:t>机构身份与组织治理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694176" y="3145536"/>
            <a:ext cx="1993392" cy="0"/>
          </a:xfrm>
          <a:prstGeom prst="line">
            <a:avLst/>
          </a:prstGeom>
          <a:ln w="635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694176" y="3236976"/>
            <a:ext cx="3931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568A8"/>
                </a:solidFill>
                <a:latin typeface="Microsoft YaHei"/>
              </a:rPr>
              <a:t>M02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0" y="3236976"/>
            <a:ext cx="15910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3364A"/>
                </a:solidFill>
                <a:latin typeface="Microsoft YaHei"/>
              </a:rPr>
              <a:t>历史沿革与学脉传承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3694176" y="3611880"/>
            <a:ext cx="1993392" cy="0"/>
          </a:xfrm>
          <a:prstGeom prst="line">
            <a:avLst/>
          </a:prstGeom>
          <a:ln w="635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3694176" y="3703320"/>
            <a:ext cx="3931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568A8"/>
                </a:solidFill>
                <a:latin typeface="Microsoft YaHei"/>
              </a:rPr>
              <a:t>M03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0" y="3703320"/>
            <a:ext cx="15910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3364A"/>
                </a:solidFill>
                <a:latin typeface="Microsoft YaHei"/>
              </a:rPr>
              <a:t>使命愿景与公共价值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694176" y="4078224"/>
            <a:ext cx="1993392" cy="0"/>
          </a:xfrm>
          <a:prstGeom prst="line">
            <a:avLst/>
          </a:prstGeom>
          <a:ln w="635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3694176" y="4169663"/>
            <a:ext cx="3931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568A8"/>
                </a:solidFill>
                <a:latin typeface="Microsoft YaHei"/>
              </a:rPr>
              <a:t>M04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0" y="4169663"/>
            <a:ext cx="15910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3364A"/>
                </a:solidFill>
                <a:latin typeface="Microsoft YaHei"/>
              </a:rPr>
              <a:t>学科价值与研究取向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3694176" y="4544568"/>
            <a:ext cx="1993392" cy="0"/>
          </a:xfrm>
          <a:prstGeom prst="line">
            <a:avLst/>
          </a:prstGeom>
          <a:ln w="635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3694176" y="4636008"/>
            <a:ext cx="3931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568A8"/>
                </a:solidFill>
                <a:latin typeface="Microsoft YaHei"/>
              </a:rPr>
              <a:t>M05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0" y="4636008"/>
            <a:ext cx="15910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3364A"/>
                </a:solidFill>
                <a:latin typeface="Microsoft YaHei"/>
              </a:rPr>
              <a:t>课程教学与培养目标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15583" y="2770632"/>
            <a:ext cx="3931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B7A78"/>
                </a:solidFill>
                <a:latin typeface="Microsoft YaHei"/>
              </a:rPr>
              <a:t>M06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36207" y="2770632"/>
            <a:ext cx="15910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3364A"/>
                </a:solidFill>
                <a:latin typeface="Microsoft YaHei"/>
              </a:rPr>
              <a:t>师资与办学支撑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815583" y="3145536"/>
            <a:ext cx="1993392" cy="0"/>
          </a:xfrm>
          <a:prstGeom prst="line">
            <a:avLst/>
          </a:prstGeom>
          <a:ln w="635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815583" y="3236976"/>
            <a:ext cx="3931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B7A78"/>
                </a:solidFill>
                <a:latin typeface="Microsoft YaHei"/>
              </a:rPr>
              <a:t>M07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36207" y="3236976"/>
            <a:ext cx="15910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3364A"/>
                </a:solidFill>
                <a:latin typeface="Microsoft YaHei"/>
              </a:rPr>
              <a:t>办学声誉与育人成效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815583" y="3611880"/>
            <a:ext cx="1993392" cy="0"/>
          </a:xfrm>
          <a:prstGeom prst="line">
            <a:avLst/>
          </a:prstGeom>
          <a:ln w="635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5815583" y="3703320"/>
            <a:ext cx="3931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B7A78"/>
                </a:solidFill>
                <a:latin typeface="Microsoft YaHei"/>
              </a:rPr>
              <a:t>M08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36207" y="3703320"/>
            <a:ext cx="15910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3364A"/>
                </a:solidFill>
                <a:latin typeface="Microsoft YaHei"/>
              </a:rPr>
              <a:t>合作网络与社会服务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815583" y="4078224"/>
            <a:ext cx="1993392" cy="0"/>
          </a:xfrm>
          <a:prstGeom prst="line">
            <a:avLst/>
          </a:prstGeom>
          <a:ln w="635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5815583" y="4169663"/>
            <a:ext cx="3931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B7A78"/>
                </a:solidFill>
                <a:latin typeface="Microsoft YaHei"/>
              </a:rPr>
              <a:t>M09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36207" y="4169663"/>
            <a:ext cx="15910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3364A"/>
                </a:solidFill>
                <a:latin typeface="Microsoft YaHei"/>
              </a:rPr>
              <a:t>受众互动与行动引导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815583" y="4544568"/>
            <a:ext cx="1993392" cy="0"/>
          </a:xfrm>
          <a:prstGeom prst="line">
            <a:avLst/>
          </a:prstGeom>
          <a:ln w="635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5815583" y="4636008"/>
            <a:ext cx="3931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B7A78"/>
                </a:solidFill>
                <a:latin typeface="Microsoft YaHei"/>
              </a:rPr>
              <a:t>M10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36207" y="4636008"/>
            <a:ext cx="15910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3364A"/>
                </a:solidFill>
                <a:latin typeface="Microsoft YaHei"/>
              </a:rPr>
              <a:t>信息导引与运行通告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94176" y="5257800"/>
            <a:ext cx="422452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2748A"/>
                </a:solidFill>
                <a:latin typeface="Microsoft YaHei"/>
              </a:rPr>
              <a:t>完整语步定义与语阶见附录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366760" y="2011680"/>
            <a:ext cx="2971800" cy="3584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586216" y="2212848"/>
            <a:ext cx="25328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568A8"/>
                </a:solidFill>
                <a:latin typeface="Microsoft YaHei"/>
              </a:rPr>
              <a:t>03　人机协作校订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622792" y="2660904"/>
            <a:ext cx="2459736" cy="438912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622792" y="2660904"/>
            <a:ext cx="245973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568A8"/>
                </a:solidFill>
                <a:latin typeface="Microsoft YaHei"/>
              </a:rPr>
              <a:t>AI预标注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622792" y="3374136"/>
            <a:ext cx="2459736" cy="4389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622792" y="3374136"/>
            <a:ext cx="245973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7324D"/>
                </a:solidFill>
                <a:latin typeface="Microsoft YaHei"/>
              </a:rPr>
              <a:t>人工逐篇审阅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622792" y="4087368"/>
            <a:ext cx="2459736" cy="438912"/>
          </a:xfrm>
          <a:prstGeom prst="roundRect">
            <a:avLst/>
          </a:prstGeom>
          <a:solidFill>
            <a:srgbClr val="FFF3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622792" y="4087368"/>
            <a:ext cx="245973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38B36"/>
                </a:solidFill>
                <a:latin typeface="Microsoft YaHei"/>
              </a:rPr>
              <a:t>立即修改并保存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637776" y="3099816"/>
            <a:ext cx="42062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2748A"/>
                </a:solidFill>
                <a:latin typeface="Microsoft YaHei"/>
              </a:rPr>
              <a:t>↓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637776" y="3813048"/>
            <a:ext cx="42062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2748A"/>
                </a:solidFill>
                <a:latin typeface="Microsoft YaHei"/>
              </a:rPr>
              <a:t>↓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622792" y="4754880"/>
            <a:ext cx="2459736" cy="621792"/>
          </a:xfrm>
          <a:prstGeom prst="round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622792" y="4818888"/>
            <a:ext cx="24597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Microsoft YaHei"/>
              </a:rPr>
              <a:t>最终分析对象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622792" y="5010912"/>
            <a:ext cx="24597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人工校订标签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731520" y="6144768"/>
            <a:ext cx="10744200" cy="0"/>
          </a:xfrm>
          <a:prstGeom prst="line">
            <a:avLst/>
          </a:prstGeom>
          <a:ln w="1016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731520" y="6318504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2748A"/>
                </a:solidFill>
                <a:latin typeface="Microsoft YaHei"/>
              </a:rPr>
              <a:t>基于语料库技术的中美外语院系英文简介话语比较分析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60" y="6318504"/>
            <a:ext cx="594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04 / 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" y="0"/>
            <a:ext cx="50292" cy="841248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38912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68A8"/>
                </a:solidFill>
                <a:latin typeface="Microsoft YaHei"/>
              </a:rPr>
              <a:t>04　研究结果｜语步分布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68096"/>
            <a:ext cx="969264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7324D"/>
                </a:solidFill>
                <a:latin typeface="Microsoft YaHei"/>
              </a:rPr>
              <a:t>语步出现率：美国文本的覆盖更稳定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07592"/>
            <a:ext cx="10515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3364A"/>
                </a:solidFill>
                <a:latin typeface="Microsoft YaHei"/>
              </a:rPr>
              <a:t>中美样本共享10个语步，国别差距主要集中于M09、M08与M03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773936"/>
            <a:ext cx="594360" cy="41148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993392"/>
            <a:ext cx="7452360" cy="37673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16712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68A8"/>
                </a:solidFill>
                <a:latin typeface="Microsoft YaHei"/>
              </a:rPr>
              <a:t>文本出现率（%）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23560" y="2221992"/>
            <a:ext cx="146304" cy="91440"/>
          </a:xfrm>
          <a:prstGeom prst="round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43016" y="2139696"/>
            <a:ext cx="56692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2748A"/>
                </a:solidFill>
                <a:latin typeface="Microsoft YaHei"/>
              </a:rPr>
              <a:t>中国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47104" y="2221992"/>
            <a:ext cx="146304" cy="91440"/>
          </a:xfrm>
          <a:prstGeom prst="round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0" y="2139696"/>
            <a:ext cx="65836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2748A"/>
                </a:solidFill>
                <a:latin typeface="Microsoft YaHei"/>
              </a:rPr>
              <a:t>美国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17320" y="2633472"/>
            <a:ext cx="0" cy="2880360"/>
          </a:xfrm>
          <a:prstGeom prst="line">
            <a:avLst/>
          </a:prstGeom>
          <a:ln w="635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216152" y="2414016"/>
            <a:ext cx="4023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2748A"/>
                </a:solidFill>
                <a:latin typeface="Microsoft YaHei"/>
              </a:rPr>
              <a:t>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891790" y="2633472"/>
            <a:ext cx="0" cy="2880360"/>
          </a:xfrm>
          <a:prstGeom prst="line">
            <a:avLst/>
          </a:prstGeom>
          <a:ln w="635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690622" y="2414016"/>
            <a:ext cx="4023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2748A"/>
                </a:solidFill>
                <a:latin typeface="Microsoft YaHei"/>
              </a:rPr>
              <a:t>25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366260" y="2633472"/>
            <a:ext cx="0" cy="2880360"/>
          </a:xfrm>
          <a:prstGeom prst="line">
            <a:avLst/>
          </a:prstGeom>
          <a:ln w="635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165092" y="2414016"/>
            <a:ext cx="4023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2748A"/>
                </a:solidFill>
                <a:latin typeface="Microsoft YaHei"/>
              </a:rPr>
              <a:t>50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840730" y="2633472"/>
            <a:ext cx="0" cy="2880360"/>
          </a:xfrm>
          <a:prstGeom prst="line">
            <a:avLst/>
          </a:prstGeom>
          <a:ln w="635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639562" y="2414016"/>
            <a:ext cx="4023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2748A"/>
                </a:solidFill>
                <a:latin typeface="Microsoft YaHei"/>
              </a:rPr>
              <a:t>75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315200" y="2633472"/>
            <a:ext cx="0" cy="2880360"/>
          </a:xfrm>
          <a:prstGeom prst="line">
            <a:avLst/>
          </a:prstGeom>
          <a:ln w="635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114032" y="2414016"/>
            <a:ext cx="4023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2748A"/>
                </a:solidFill>
                <a:latin typeface="Microsoft YaHei"/>
              </a:rPr>
              <a:t>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2706624"/>
            <a:ext cx="38404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3364A"/>
                </a:solidFill>
                <a:latin typeface="Microsoft YaHei"/>
              </a:rPr>
              <a:t>M01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417320" y="2720340"/>
            <a:ext cx="5308092" cy="77724"/>
          </a:xfrm>
          <a:prstGeom prst="round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80275" y="2697480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90.0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417320" y="2834640"/>
            <a:ext cx="5897880" cy="77724"/>
          </a:xfrm>
          <a:prstGeom prst="round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70064" y="2811780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100.0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" y="2990088"/>
            <a:ext cx="38404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3364A"/>
                </a:solidFill>
                <a:latin typeface="Microsoft YaHei"/>
              </a:rPr>
              <a:t>M02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417320" y="3003804"/>
            <a:ext cx="5502722" cy="77724"/>
          </a:xfrm>
          <a:prstGeom prst="round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74906" y="2980944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93.3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17320" y="3118104"/>
            <a:ext cx="5703249" cy="77724"/>
          </a:xfrm>
          <a:prstGeom prst="round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75433" y="3095244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96.7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2688" y="3273552"/>
            <a:ext cx="38404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3364A"/>
                </a:solidFill>
                <a:latin typeface="Microsoft YaHei"/>
              </a:rPr>
              <a:t>M03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417320" y="3287268"/>
            <a:ext cx="4523673" cy="77724"/>
          </a:xfrm>
          <a:prstGeom prst="round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95857" y="3264408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76.7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17320" y="3401568"/>
            <a:ext cx="5703249" cy="77724"/>
          </a:xfrm>
          <a:prstGeom prst="round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75433" y="3378708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96.7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2688" y="3557015"/>
            <a:ext cx="38404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3364A"/>
                </a:solidFill>
                <a:latin typeface="Microsoft YaHei"/>
              </a:rPr>
              <a:t>M04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417320" y="3570732"/>
            <a:ext cx="5308092" cy="77724"/>
          </a:xfrm>
          <a:prstGeom prst="round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80275" y="3547872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90.0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417320" y="3685031"/>
            <a:ext cx="5897880" cy="77724"/>
          </a:xfrm>
          <a:prstGeom prst="round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70064" y="3662171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100.0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2688" y="3840480"/>
            <a:ext cx="38404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3364A"/>
                </a:solidFill>
                <a:latin typeface="Microsoft YaHei"/>
              </a:rPr>
              <a:t>M05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17320" y="3854196"/>
            <a:ext cx="5502722" cy="77724"/>
          </a:xfrm>
          <a:prstGeom prst="round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974906" y="3831336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93.3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417320" y="3968496"/>
            <a:ext cx="5897880" cy="77724"/>
          </a:xfrm>
          <a:prstGeom prst="round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70064" y="3945636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100.0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32688" y="4123944"/>
            <a:ext cx="38404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3364A"/>
                </a:solidFill>
                <a:latin typeface="Microsoft YaHei"/>
              </a:rPr>
              <a:t>M06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417320" y="4137660"/>
            <a:ext cx="5113461" cy="77724"/>
          </a:xfrm>
          <a:prstGeom prst="round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85645" y="4114800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86.7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417320" y="4251960"/>
            <a:ext cx="5703249" cy="77724"/>
          </a:xfrm>
          <a:prstGeom prst="round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175433" y="4229100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96.7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32688" y="4407408"/>
            <a:ext cx="38404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3364A"/>
                </a:solidFill>
                <a:latin typeface="Microsoft YaHei"/>
              </a:rPr>
              <a:t>M07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417320" y="4421124"/>
            <a:ext cx="5502722" cy="77724"/>
          </a:xfrm>
          <a:prstGeom prst="round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974906" y="4398264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93.3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417320" y="4535424"/>
            <a:ext cx="5897880" cy="77724"/>
          </a:xfrm>
          <a:prstGeom prst="round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370064" y="4512564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100.0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32688" y="4690872"/>
            <a:ext cx="38404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3364A"/>
                </a:solidFill>
                <a:latin typeface="Microsoft YaHei"/>
              </a:rPr>
              <a:t>M08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417320" y="4704588"/>
            <a:ext cx="3344097" cy="77724"/>
          </a:xfrm>
          <a:prstGeom prst="round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816281" y="4681728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56.7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417320" y="4818888"/>
            <a:ext cx="5502722" cy="77724"/>
          </a:xfrm>
          <a:prstGeom prst="round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974906" y="4796028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93.3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32688" y="4974336"/>
            <a:ext cx="38404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3364A"/>
                </a:solidFill>
                <a:latin typeface="Microsoft YaHei"/>
              </a:rPr>
              <a:t>M09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417320" y="4988052"/>
            <a:ext cx="1769364" cy="77724"/>
          </a:xfrm>
          <a:prstGeom prst="round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241548" y="4965192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30.0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417320" y="5102352"/>
            <a:ext cx="5703249" cy="77724"/>
          </a:xfrm>
          <a:prstGeom prst="round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175433" y="5079492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96.7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32688" y="5257800"/>
            <a:ext cx="38404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3364A"/>
                </a:solidFill>
                <a:latin typeface="Microsoft YaHei"/>
              </a:rPr>
              <a:t>M10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417320" y="5271516"/>
            <a:ext cx="5502722" cy="77724"/>
          </a:xfrm>
          <a:prstGeom prst="round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974906" y="5248656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93.3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417320" y="5385816"/>
            <a:ext cx="5897880" cy="77724"/>
          </a:xfrm>
          <a:prstGeom prst="round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370064" y="5362956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100.0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366760" y="1993392"/>
            <a:ext cx="2971800" cy="3767328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586216" y="2167128"/>
            <a:ext cx="253288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68A8"/>
                </a:solidFill>
                <a:latin typeface="Microsoft YaHei"/>
              </a:rPr>
              <a:t>关键差距（百分点）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586216" y="2633472"/>
            <a:ext cx="2532888" cy="7680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750808" y="2724912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7324D"/>
                </a:solidFill>
                <a:latin typeface="Microsoft YaHei"/>
              </a:rPr>
              <a:t>M09　受众互动与行动引导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750808" y="3026664"/>
            <a:ext cx="155448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3364A"/>
                </a:solidFill>
                <a:latin typeface="Microsoft YaHei"/>
              </a:rPr>
              <a:t>30.0% → 96.7%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241280" y="299923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38B36"/>
                </a:solidFill>
                <a:latin typeface="Microsoft YaHei"/>
              </a:rPr>
              <a:t>+66.7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586216" y="3547872"/>
            <a:ext cx="2532888" cy="7680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750808" y="3639312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7324D"/>
                </a:solidFill>
                <a:latin typeface="Microsoft YaHei"/>
              </a:rPr>
              <a:t>M08　合作网络与社会服务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750808" y="3941063"/>
            <a:ext cx="155448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3364A"/>
                </a:solidFill>
                <a:latin typeface="Microsoft YaHei"/>
              </a:rPr>
              <a:t>56.7% → 93.3%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241280" y="391363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38B36"/>
                </a:solidFill>
                <a:latin typeface="Microsoft YaHei"/>
              </a:rPr>
              <a:t>+36.7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8586216" y="4462272"/>
            <a:ext cx="2532888" cy="7680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750808" y="4553712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7324D"/>
                </a:solidFill>
                <a:latin typeface="Microsoft YaHei"/>
              </a:rPr>
              <a:t>M03　使命愿景与公共价值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750808" y="4855464"/>
            <a:ext cx="155448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3364A"/>
                </a:solidFill>
                <a:latin typeface="Microsoft YaHei"/>
              </a:rPr>
              <a:t>76.7% → 96.7%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241280" y="482803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38B36"/>
                </a:solidFill>
                <a:latin typeface="Microsoft YaHei"/>
              </a:rPr>
              <a:t>+20.0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586216" y="5431536"/>
            <a:ext cx="25328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2748A"/>
                </a:solidFill>
                <a:latin typeface="Microsoft YaHei"/>
              </a:rPr>
              <a:t>其余7个语步差距均≤10个百分点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68096" y="5852160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2748A"/>
                </a:solidFill>
                <a:latin typeface="Microsoft YaHei"/>
              </a:rPr>
              <a:t>注：出现率为该国30个文本中包含相应语步的文本比例。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731520" y="6144768"/>
            <a:ext cx="10744200" cy="0"/>
          </a:xfrm>
          <a:prstGeom prst="line">
            <a:avLst/>
          </a:prstGeom>
          <a:ln w="1016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731520" y="6318504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2748A"/>
                </a:solidFill>
                <a:latin typeface="Microsoft YaHei"/>
              </a:rPr>
              <a:t>基于语料库技术的中美外语院系英文简介话语比较分析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881360" y="6318504"/>
            <a:ext cx="594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05 / 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基于语料库技术的中美外语院系英文简介话语比较分析</dc:title>
  <dc:subject>本科生创新训练培育项目中期汇报</dc:subject>
  <dc:creator>项目组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