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0292" cy="1234440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" y="475488"/>
            <a:ext cx="3429000" cy="38404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75488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本科生创新训练培育项目｜中期汇报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80160"/>
            <a:ext cx="7086600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Microsoft YaHei"/>
              </a:rPr>
              <a:t>基于语料库技术的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Microsoft YaHei"/>
              </a:rPr>
              <a:t>中美外语院系英文简介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24D"/>
                </a:solidFill>
                <a:latin typeface="Microsoft YaHei"/>
              </a:rPr>
              <a:t>话语比较分析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38144"/>
            <a:ext cx="6995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Microsoft YaHei"/>
              </a:rPr>
              <a:t>中美高校外语院系英文 About Us 文本的语料库辅助比较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77639"/>
            <a:ext cx="594360" cy="411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279392"/>
            <a:ext cx="1627632" cy="941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70832"/>
            <a:ext cx="162763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568A8"/>
                </a:solidFill>
                <a:latin typeface="Microsoft YaHei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28032"/>
            <a:ext cx="16276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个院系文本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15184" y="4279392"/>
            <a:ext cx="1847088" cy="941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4370832"/>
            <a:ext cx="184708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568A8"/>
                </a:solidFill>
                <a:latin typeface="Microsoft YaHei"/>
              </a:rPr>
              <a:t>30＋30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4828032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中美样本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4279392"/>
            <a:ext cx="1627632" cy="941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4370832"/>
            <a:ext cx="162763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568A8"/>
                </a:solidFill>
                <a:latin typeface="Microsoft YaHe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828032"/>
            <a:ext cx="16276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核心语步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868680"/>
            <a:ext cx="3246120" cy="493776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40496" y="1243584"/>
            <a:ext cx="2624328" cy="1344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14232" y="1417320"/>
            <a:ext cx="77724" cy="77724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78824" y="1417320"/>
            <a:ext cx="77724" cy="77724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43415" y="1417320"/>
            <a:ext cx="77724" cy="77724"/>
          </a:xfrm>
          <a:prstGeom prst="ellipse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23376" y="1645920"/>
            <a:ext cx="22494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324D"/>
                </a:solidFill>
                <a:latin typeface="Microsoft YaHei"/>
              </a:rPr>
              <a:t>About 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2084831"/>
            <a:ext cx="1993392" cy="50292"/>
          </a:xfrm>
          <a:prstGeom prst="roundRect">
            <a:avLst/>
          </a:prstGeom>
          <a:solidFill>
            <a:srgbClr val="D8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32520" y="2240280"/>
            <a:ext cx="1481328" cy="50292"/>
          </a:xfrm>
          <a:prstGeom prst="roundRect">
            <a:avLst/>
          </a:prstGeom>
          <a:solidFill>
            <a:srgbClr val="D8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28254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2748A"/>
                </a:solidFill>
                <a:latin typeface="Microsoft YaHei"/>
              </a:rPr>
              <a:t>研究路径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0496" y="3182112"/>
            <a:ext cx="262432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0" y="3282696"/>
            <a:ext cx="310896" cy="310896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2826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3218688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324D"/>
                </a:solidFill>
                <a:latin typeface="Microsoft YaHei"/>
              </a:rPr>
              <a:t>语步分布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0496" y="3840480"/>
            <a:ext cx="262432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86800" y="3941064"/>
            <a:ext cx="310896" cy="310896"/>
          </a:xfrm>
          <a:prstGeom prst="ellipse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9410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3877056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324D"/>
                </a:solidFill>
                <a:latin typeface="Microsoft YaHei"/>
              </a:rPr>
              <a:t>语言实现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0496" y="4498848"/>
            <a:ext cx="2624328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86800" y="4599432"/>
            <a:ext cx="310896" cy="310896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5994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4535424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324D"/>
                </a:solidFill>
                <a:latin typeface="Microsoft YaHei"/>
              </a:rPr>
              <a:t>语境解释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8784" y="5285232"/>
            <a:ext cx="25786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MOVE · LANGUAGE · CONTEXT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1520" y="5760720"/>
            <a:ext cx="10744200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1520" y="596188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324D"/>
                </a:solidFill>
                <a:latin typeface="Microsoft YaHei"/>
              </a:rPr>
              <a:t>外语学院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33679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汇报人：________　　指导教师：________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2026年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3093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0292" cy="8412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01　研究定位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24D"/>
                </a:solidFill>
                <a:latin typeface="Microsoft YaHei"/>
              </a:rPr>
              <a:t>研究内容与目标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3364A"/>
                </a:solidFill>
                <a:latin typeface="Microsoft YaHei"/>
              </a:rPr>
              <a:t>围绕五个相互关联的维度，比较中美外语院系英文简介的机构话语建构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73936"/>
            <a:ext cx="594360" cy="411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8A8"/>
                </a:solidFill>
                <a:latin typeface="Microsoft YaHei"/>
              </a:rPr>
              <a:t>研究内容｜五个比较维度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59152"/>
            <a:ext cx="6729984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468880"/>
            <a:ext cx="310896" cy="310896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42316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体裁构成与语步模式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242316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顺序 · 篇幅 · 出现率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99232"/>
            <a:ext cx="6729984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108960"/>
            <a:ext cx="310896" cy="310896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06324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教育理念与培养目标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306324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核心能力 · 工具性—人文性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39312"/>
            <a:ext cx="6729984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3749039"/>
            <a:ext cx="310896" cy="310896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4903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70332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学科形象与学术身份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370332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评价表达 · 自我指称 · 名词化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79392"/>
            <a:ext cx="6729984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389120"/>
            <a:ext cx="310896" cy="310896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3891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34340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国际化表述策略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6" y="434340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理想主义 · 工具主义 · 教育主义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19472"/>
            <a:ext cx="6729984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5029200"/>
            <a:ext cx="310896" cy="310896"/>
          </a:xfrm>
          <a:prstGeom prst="ellipse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292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498348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多语种资源与跨学科整合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6" y="498348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语种资源 · 学科融合 · 社会服务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90688" y="1965960"/>
            <a:ext cx="3547872" cy="3593592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2157984"/>
            <a:ext cx="29992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8A8"/>
                </a:solidFill>
                <a:latin typeface="Microsoft YaHei"/>
              </a:rPr>
              <a:t>研究目标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2587752"/>
            <a:ext cx="303580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0" y="2587752"/>
            <a:ext cx="612648" cy="749808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0" y="2587752"/>
            <a:ext cx="6126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描述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42248" y="2651760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A"/>
                </a:solidFill>
                <a:latin typeface="Microsoft YaHei"/>
              </a:rPr>
              <a:t>识别文本结构与语言表达的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A"/>
                </a:solidFill>
                <a:latin typeface="Microsoft YaHei"/>
              </a:rPr>
              <a:t>共性及差异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3493008"/>
            <a:ext cx="303580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46720" y="3493008"/>
            <a:ext cx="612648" cy="749808"/>
          </a:xfrm>
          <a:prstGeom prst="round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3493008"/>
            <a:ext cx="6126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解释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42248" y="3557016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A"/>
                </a:solidFill>
                <a:latin typeface="Microsoft YaHei"/>
              </a:rPr>
              <a:t>联系社会文化与制度语境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A"/>
                </a:solidFill>
                <a:latin typeface="Microsoft YaHei"/>
              </a:rPr>
              <a:t>阐释差异成因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4398264"/>
            <a:ext cx="303580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46720" y="4398264"/>
            <a:ext cx="612648" cy="749808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4398264"/>
            <a:ext cx="6126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转化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42248" y="4462272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A"/>
                </a:solidFill>
                <a:latin typeface="Microsoft YaHei"/>
              </a:rPr>
              <a:t>形成话语策略建议库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A"/>
                </a:solidFill>
                <a:latin typeface="Microsoft YaHei"/>
              </a:rPr>
              <a:t>与研究论文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31520" y="6144768"/>
            <a:ext cx="10744200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31520" y="6318504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48A"/>
                </a:solidFill>
                <a:latin typeface="Microsoft YaHei"/>
              </a:rPr>
              <a:t>基于语料库技术的中美外语院系英文简介话语比较分析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318504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0292" cy="8412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02　项目概览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24D"/>
                </a:solidFill>
                <a:latin typeface="Microsoft YaHei"/>
              </a:rPr>
              <a:t>项目整体路线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3364A"/>
                </a:solidFill>
                <a:latin typeface="Microsoft YaHei"/>
              </a:rPr>
              <a:t>定量比较已完成，下一阶段由“描述差异”转向“解释差异与策略转化”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73936"/>
            <a:ext cx="594360" cy="411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54312" y="521207"/>
            <a:ext cx="109728" cy="109728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8048" y="448056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已完成</a:t>
            </a:r>
          </a:p>
        </p:txBody>
      </p:sp>
      <p:sp>
        <p:nvSpPr>
          <p:cNvPr id="11" name="Oval 10"/>
          <p:cNvSpPr/>
          <p:nvPr/>
        </p:nvSpPr>
        <p:spPr>
          <a:xfrm>
            <a:off x="10360152" y="521207"/>
            <a:ext cx="109728" cy="109728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33888" y="448056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下一阶段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011680"/>
            <a:ext cx="1901952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011680"/>
            <a:ext cx="1901952" cy="64008"/>
          </a:xfrm>
          <a:prstGeom prst="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2240280"/>
            <a:ext cx="658368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24028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已完成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679192"/>
            <a:ext cx="1143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568A8"/>
                </a:solidFill>
                <a:latin typeface="Microsoft YaHe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264408"/>
            <a:ext cx="15819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24D"/>
                </a:solidFill>
                <a:latin typeface="Microsoft YaHei"/>
              </a:rPr>
              <a:t>语料构建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822191"/>
            <a:ext cx="158191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中国、美国各30个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外语院系英文简介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" y="4690872"/>
            <a:ext cx="1572768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6112" y="4809744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68A8"/>
                </a:solidFill>
                <a:latin typeface="Microsoft YaHei"/>
              </a:rPr>
              <a:t>60个院系文本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07792" y="2011680"/>
            <a:ext cx="1901952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2011680"/>
            <a:ext cx="1901952" cy="64008"/>
          </a:xfrm>
          <a:prstGeom prst="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72384" y="2240280"/>
            <a:ext cx="658368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2384" y="224028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2384" y="2679192"/>
            <a:ext cx="1143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568A8"/>
                </a:solidFill>
                <a:latin typeface="Microsoft YaHe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384" y="3264408"/>
            <a:ext cx="15819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24D"/>
                </a:solidFill>
                <a:latin typeface="Microsoft YaHei"/>
              </a:rPr>
              <a:t>框架与校订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384" y="3822191"/>
            <a:ext cx="158191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AI预标注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人工逐篇校订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72384" y="4690872"/>
            <a:ext cx="1572768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072384" y="4809744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68A8"/>
                </a:solidFill>
                <a:latin typeface="Microsoft YaHei"/>
              </a:rPr>
              <a:t>10个核心语步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84064" y="2011680"/>
            <a:ext cx="1901952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84064" y="2011680"/>
            <a:ext cx="1901952" cy="64008"/>
          </a:xfrm>
          <a:prstGeom prst="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48655" y="2240280"/>
            <a:ext cx="658368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48655" y="224028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已完成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48655" y="2679192"/>
            <a:ext cx="1143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568A8"/>
                </a:solidFill>
                <a:latin typeface="Microsoft YaHei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48655" y="3264408"/>
            <a:ext cx="15819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24D"/>
                </a:solidFill>
                <a:latin typeface="Microsoft YaHei"/>
              </a:rPr>
              <a:t>语步分布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48655" y="3822191"/>
            <a:ext cx="158191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出现率 · 篇幅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开篇位置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48655" y="4690872"/>
            <a:ext cx="1572768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248655" y="4809744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68A8"/>
                </a:solidFill>
                <a:latin typeface="Microsoft YaHei"/>
              </a:rPr>
              <a:t>比较结构组织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0336" y="2011680"/>
            <a:ext cx="1901952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60336" y="2011680"/>
            <a:ext cx="1901952" cy="64008"/>
          </a:xfrm>
          <a:prstGeom prst="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24928" y="2240280"/>
            <a:ext cx="658368" cy="274320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24928" y="224028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已完成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4928" y="2679192"/>
            <a:ext cx="1143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3568A8"/>
                </a:solidFill>
                <a:latin typeface="Microsoft YaHei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4928" y="3264408"/>
            <a:ext cx="15819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24D"/>
                </a:solidFill>
                <a:latin typeface="Microsoft YaHei"/>
              </a:rPr>
              <a:t>语言实现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4928" y="3822191"/>
            <a:ext cx="158191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关键词 · 词丛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搭配与语义组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424928" y="4690872"/>
            <a:ext cx="1572768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424928" y="4809744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68A8"/>
                </a:solidFill>
                <a:latin typeface="Microsoft YaHei"/>
              </a:rPr>
              <a:t>聚焦4个核心语步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36608" y="2011680"/>
            <a:ext cx="1901952" cy="3200400"/>
          </a:xfrm>
          <a:prstGeom prst="roundRect">
            <a:avLst/>
          </a:prstGeom>
          <a:solidFill>
            <a:srgbClr val="FFF3E5"/>
          </a:solidFill>
          <a:ln w="12700">
            <a:solidFill>
              <a:srgbClr val="E3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36608" y="2011680"/>
            <a:ext cx="1901952" cy="6400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601200" y="2240280"/>
            <a:ext cx="786384" cy="274320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2240280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下一阶段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2679192"/>
            <a:ext cx="1143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E38B36"/>
                </a:solidFill>
                <a:latin typeface="Microsoft YaHei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264408"/>
            <a:ext cx="15819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24D"/>
                </a:solidFill>
                <a:latin typeface="Microsoft YaHei"/>
              </a:rPr>
              <a:t>语境与转化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822191"/>
            <a:ext cx="158191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跨文化话语分析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批评话语分析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社会文化语境解释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601200" y="4690872"/>
            <a:ext cx="1572768" cy="0"/>
          </a:xfrm>
          <a:prstGeom prst="line">
            <a:avLst/>
          </a:prstGeom>
          <a:ln w="10160">
            <a:solidFill>
              <a:srgbClr val="E38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601200" y="4809744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38B36"/>
                </a:solidFill>
                <a:latin typeface="Microsoft YaHei"/>
              </a:rPr>
              <a:t>策略建议库 · 论文</a:t>
            </a:r>
          </a:p>
        </p:txBody>
      </p:sp>
      <p:sp>
        <p:nvSpPr>
          <p:cNvPr id="58" name="Chevron 57"/>
          <p:cNvSpPr/>
          <p:nvPr/>
        </p:nvSpPr>
        <p:spPr>
          <a:xfrm>
            <a:off x="2697480" y="3429000"/>
            <a:ext cx="146304" cy="310896"/>
          </a:xfrm>
          <a:prstGeom prst="chevron">
            <a:avLst/>
          </a:prstGeom>
          <a:solidFill>
            <a:srgbClr val="D8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evron 58"/>
          <p:cNvSpPr/>
          <p:nvPr/>
        </p:nvSpPr>
        <p:spPr>
          <a:xfrm>
            <a:off x="4873752" y="3429000"/>
            <a:ext cx="146304" cy="310896"/>
          </a:xfrm>
          <a:prstGeom prst="chevron">
            <a:avLst/>
          </a:prstGeom>
          <a:solidFill>
            <a:srgbClr val="D8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evron 59"/>
          <p:cNvSpPr/>
          <p:nvPr/>
        </p:nvSpPr>
        <p:spPr>
          <a:xfrm>
            <a:off x="7050024" y="3429000"/>
            <a:ext cx="146304" cy="310896"/>
          </a:xfrm>
          <a:prstGeom prst="chevron">
            <a:avLst/>
          </a:prstGeom>
          <a:solidFill>
            <a:srgbClr val="D8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evron 60"/>
          <p:cNvSpPr/>
          <p:nvPr/>
        </p:nvSpPr>
        <p:spPr>
          <a:xfrm>
            <a:off x="9226296" y="3429000"/>
            <a:ext cx="146304" cy="310896"/>
          </a:xfrm>
          <a:prstGeom prst="chevron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31520" y="5468112"/>
            <a:ext cx="10607040" cy="438912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5468112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68A8"/>
                </a:solidFill>
                <a:latin typeface="Microsoft YaHei"/>
              </a:rPr>
              <a:t>本次汇报重点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57984" y="5468112"/>
            <a:ext cx="88696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3364A"/>
                </a:solidFill>
                <a:latin typeface="Microsoft YaHei"/>
              </a:rPr>
              <a:t>03 语步分布　·　04 语言实现　　｜　　05 语境与转化为下一阶段计划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31520" y="6144768"/>
            <a:ext cx="10744200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31520" y="6318504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48A"/>
                </a:solidFill>
                <a:latin typeface="Microsoft YaHei"/>
              </a:rPr>
              <a:t>基于语料库技术的中美外语院系英文简介话语比较分析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1360" y="6318504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0292" cy="8412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03　研究设计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24D"/>
                </a:solidFill>
                <a:latin typeface="Microsoft YaHei"/>
              </a:rPr>
              <a:t>样本、语步与人机协作校订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3364A"/>
                </a:solidFill>
                <a:latin typeface="Microsoft YaHei"/>
              </a:rPr>
              <a:t>以院系级文本为比较单位，后续统计与语言分析均基于人工校订标签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73936"/>
            <a:ext cx="594360" cy="411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514600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2057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8A8"/>
                </a:solidFill>
                <a:latin typeface="Microsoft YaHei"/>
              </a:rPr>
              <a:t>01　语料样本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33472"/>
            <a:ext cx="20574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7324D"/>
                </a:solidFill>
                <a:latin typeface="Microsoft YaHei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0040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2748A"/>
                </a:solidFill>
                <a:latin typeface="Microsoft YaHei"/>
              </a:rPr>
              <a:t>个院系文本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" y="3593592"/>
            <a:ext cx="2066544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0976" y="3794760"/>
            <a:ext cx="2066543" cy="438912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" y="3941063"/>
            <a:ext cx="128016" cy="128016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中国　30个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4361688"/>
            <a:ext cx="2066543" cy="438912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5568" y="4507992"/>
            <a:ext cx="128016" cy="128016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361688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324D"/>
                </a:solidFill>
                <a:latin typeface="Microsoft YaHei"/>
              </a:rPr>
              <a:t>美国　30个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983480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2748A"/>
                </a:solidFill>
                <a:latin typeface="Microsoft YaHei"/>
              </a:rPr>
              <a:t>官方网站英文 About 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257800"/>
            <a:ext cx="20665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68A8"/>
                </a:solidFill>
                <a:latin typeface="Microsoft YaHei"/>
              </a:rPr>
              <a:t>院系级聚合文本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2011680"/>
            <a:ext cx="4663440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2212848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8A8"/>
                </a:solidFill>
                <a:latin typeface="Microsoft YaHei"/>
              </a:rPr>
              <a:t>02　语步框架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212848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24个细类 → 10个核心语步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94176" y="2596896"/>
            <a:ext cx="4224528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94176" y="2770632"/>
            <a:ext cx="393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M01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2770632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机构身份与组织治理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94176" y="3145536"/>
            <a:ext cx="1993392" cy="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94176" y="3236976"/>
            <a:ext cx="393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M02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236976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历史沿革与学脉传承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94176" y="3611880"/>
            <a:ext cx="1993392" cy="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94176" y="3703320"/>
            <a:ext cx="393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M03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703320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使命愿景与公共价值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94176" y="4078224"/>
            <a:ext cx="1993392" cy="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94176" y="4169663"/>
            <a:ext cx="393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M04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169663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学科价值与研究取向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694176" y="4544568"/>
            <a:ext cx="1993392" cy="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694176" y="4636008"/>
            <a:ext cx="393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M05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636008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课程教学与培养目标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3" y="2770632"/>
            <a:ext cx="393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B7A78"/>
                </a:solidFill>
                <a:latin typeface="Microsoft YaHei"/>
              </a:rPr>
              <a:t>M06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7" y="2770632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师资与办学支撑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15583" y="3145536"/>
            <a:ext cx="1993392" cy="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15583" y="3236976"/>
            <a:ext cx="393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B7A78"/>
                </a:solidFill>
                <a:latin typeface="Microsoft YaHei"/>
              </a:rPr>
              <a:t>M07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7" y="3236976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办学声誉与育人成效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815583" y="3611880"/>
            <a:ext cx="1993392" cy="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815583" y="3703320"/>
            <a:ext cx="393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B7A78"/>
                </a:solidFill>
                <a:latin typeface="Microsoft YaHei"/>
              </a:rPr>
              <a:t>M08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7" y="3703320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合作网络与社会服务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815583" y="4078224"/>
            <a:ext cx="1993392" cy="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815583" y="4169663"/>
            <a:ext cx="393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B7A78"/>
                </a:solidFill>
                <a:latin typeface="Microsoft YaHei"/>
              </a:rPr>
              <a:t>M09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7" y="4169663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受众互动与行动引导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815583" y="4544568"/>
            <a:ext cx="1993392" cy="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815583" y="4636008"/>
            <a:ext cx="3931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B7A78"/>
                </a:solidFill>
                <a:latin typeface="Microsoft YaHei"/>
              </a:rPr>
              <a:t>M10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7" y="4636008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信息导引与运行通告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94176" y="5257800"/>
            <a:ext cx="4224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48A"/>
                </a:solidFill>
                <a:latin typeface="Microsoft YaHei"/>
              </a:rPr>
              <a:t>完整语步定义与语阶见附录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66760" y="2011680"/>
            <a:ext cx="2971800" cy="3584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86216" y="2212848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8A8"/>
                </a:solidFill>
                <a:latin typeface="Microsoft YaHei"/>
              </a:rPr>
              <a:t>03　人机协作校订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22792" y="2660904"/>
            <a:ext cx="2459736" cy="438912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22792" y="2660904"/>
            <a:ext cx="2459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568A8"/>
                </a:solidFill>
                <a:latin typeface="Microsoft YaHei"/>
              </a:rPr>
              <a:t>AI预标注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22792" y="3374136"/>
            <a:ext cx="2459736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22792" y="3374136"/>
            <a:ext cx="2459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7324D"/>
                </a:solidFill>
                <a:latin typeface="Microsoft YaHei"/>
              </a:rPr>
              <a:t>人工逐篇审阅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22792" y="4087368"/>
            <a:ext cx="2459736" cy="438912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22792" y="4087368"/>
            <a:ext cx="2459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38B36"/>
                </a:solidFill>
                <a:latin typeface="Microsoft YaHei"/>
              </a:rPr>
              <a:t>立即修改并保存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37776" y="3099816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Microsoft YaHei"/>
              </a:rPr>
              <a:t>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37776" y="3813048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748A"/>
                </a:solidFill>
                <a:latin typeface="Microsoft YaHei"/>
              </a:rPr>
              <a:t>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22792" y="4754880"/>
            <a:ext cx="2459736" cy="621792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22792" y="4818888"/>
            <a:ext cx="2459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Microsoft YaHei"/>
              </a:rPr>
              <a:t>最终分析对象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22792" y="5010912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人工校订标签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31520" y="6144768"/>
            <a:ext cx="10744200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31520" y="6318504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48A"/>
                </a:solidFill>
                <a:latin typeface="Microsoft YaHei"/>
              </a:rPr>
              <a:t>基于语料库技术的中美外语院系英文简介话语比较分析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60" y="6318504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0292" cy="8412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04　研究结果｜语步分布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9692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24D"/>
                </a:solidFill>
                <a:latin typeface="Microsoft YaHei"/>
              </a:rPr>
              <a:t>语步出现率：美国文本的覆盖更稳定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3364A"/>
                </a:solidFill>
                <a:latin typeface="Microsoft YaHei"/>
              </a:rPr>
              <a:t>中美样本共享10个语步，国别差距主要集中于M09、M08与M03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73936"/>
            <a:ext cx="594360" cy="411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993392"/>
            <a:ext cx="7452360" cy="3767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1671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文本出现率（%）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2221992"/>
            <a:ext cx="146304" cy="91440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3016" y="2139696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2748A"/>
                </a:solidFill>
                <a:latin typeface="Microsoft YaHei"/>
              </a:rPr>
              <a:t>中国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2221992"/>
            <a:ext cx="146304" cy="91440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9696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2748A"/>
                </a:solidFill>
                <a:latin typeface="Microsoft YaHei"/>
              </a:rPr>
              <a:t>美国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2633472"/>
            <a:ext cx="0" cy="288036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16152" y="24140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91790" y="2633472"/>
            <a:ext cx="0" cy="288036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90622" y="24140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25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66260" y="2633472"/>
            <a:ext cx="0" cy="288036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65092" y="24140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50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40730" y="2633472"/>
            <a:ext cx="0" cy="288036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39562" y="24140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75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0" y="2633472"/>
            <a:ext cx="0" cy="2880360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14032" y="24140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70662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2720340"/>
            <a:ext cx="5308092" cy="77724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0275" y="2697480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90.0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17320" y="2834640"/>
            <a:ext cx="5897880" cy="77724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0064" y="2811780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100.0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299008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7320" y="3003804"/>
            <a:ext cx="5502722" cy="77724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74906" y="2980944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93.3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7320" y="3118104"/>
            <a:ext cx="5703249" cy="77724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5433" y="3095244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96.7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3273552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17320" y="3287268"/>
            <a:ext cx="4523673" cy="77724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5857" y="3264408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76.7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3401568"/>
            <a:ext cx="5703249" cy="77724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5433" y="3378708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96.7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355701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17320" y="3570732"/>
            <a:ext cx="5308092" cy="77724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0275" y="3547872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90.0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17320" y="3685031"/>
            <a:ext cx="5897880" cy="77724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70064" y="3662171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100.0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384048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17320" y="3854196"/>
            <a:ext cx="5502722" cy="77724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74906" y="3831336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93.3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17320" y="3968496"/>
            <a:ext cx="5897880" cy="77724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0064" y="3945636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100.0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" y="412394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17320" y="4137660"/>
            <a:ext cx="5113461" cy="77724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5645" y="4114800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86.7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17320" y="4251960"/>
            <a:ext cx="5703249" cy="77724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75433" y="4229100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96.7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" y="440740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17320" y="4421124"/>
            <a:ext cx="5502722" cy="77724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74906" y="4398264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93.3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17320" y="4535424"/>
            <a:ext cx="5897880" cy="77724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0064" y="4512564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100.0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4690872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17320" y="4704588"/>
            <a:ext cx="3344097" cy="77724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16281" y="4681728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56.7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17320" y="4818888"/>
            <a:ext cx="5502722" cy="77724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74906" y="4796028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93.3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" y="497433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M09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417320" y="4988052"/>
            <a:ext cx="1769364" cy="77724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41548" y="4965192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30.0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417320" y="5102352"/>
            <a:ext cx="5703249" cy="77724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75433" y="5079492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96.7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" y="5257800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417320" y="5271516"/>
            <a:ext cx="5502722" cy="77724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74906" y="5248656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93.3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417320" y="5385816"/>
            <a:ext cx="5897880" cy="77724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70064" y="5362956"/>
            <a:ext cx="43891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2748A"/>
                </a:solidFill>
                <a:latin typeface="Microsoft YaHei"/>
              </a:rPr>
              <a:t>100.0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66760" y="1993392"/>
            <a:ext cx="2971800" cy="3767328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86216" y="2167128"/>
            <a:ext cx="25328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关键差距（百分点）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586216" y="2633472"/>
            <a:ext cx="2532888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50808" y="272491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24D"/>
                </a:solidFill>
                <a:latin typeface="Microsoft YaHei"/>
              </a:rPr>
              <a:t>M09　受众互动与行动引导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50808" y="3026664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3364A"/>
                </a:solidFill>
                <a:latin typeface="Microsoft YaHei"/>
              </a:rPr>
              <a:t>30.0% → 96.7%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0" y="299923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8B36"/>
                </a:solidFill>
                <a:latin typeface="Microsoft YaHei"/>
              </a:rPr>
              <a:t>+66.7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586216" y="3547872"/>
            <a:ext cx="2532888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750808" y="363931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24D"/>
                </a:solidFill>
                <a:latin typeface="Microsoft YaHei"/>
              </a:rPr>
              <a:t>M08　合作网络与社会服务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50808" y="3941063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3364A"/>
                </a:solidFill>
                <a:latin typeface="Microsoft YaHei"/>
              </a:rPr>
              <a:t>56.7% → 93.3%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41280" y="391363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8B36"/>
                </a:solidFill>
                <a:latin typeface="Microsoft YaHei"/>
              </a:rPr>
              <a:t>+36.7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586216" y="4462272"/>
            <a:ext cx="2532888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50808" y="455371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24D"/>
                </a:solidFill>
                <a:latin typeface="Microsoft YaHei"/>
              </a:rPr>
              <a:t>M03　使命愿景与公共价值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50808" y="4855464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3364A"/>
                </a:solidFill>
                <a:latin typeface="Microsoft YaHei"/>
              </a:rPr>
              <a:t>76.7% → 96.7%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41280" y="482803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8B36"/>
                </a:solidFill>
                <a:latin typeface="Microsoft YaHei"/>
              </a:rPr>
              <a:t>+20.0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86216" y="5431536"/>
            <a:ext cx="253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2748A"/>
                </a:solidFill>
                <a:latin typeface="Microsoft YaHei"/>
              </a:rPr>
              <a:t>其余7个语步差距均≤10个百分点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8096" y="58521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2748A"/>
                </a:solidFill>
                <a:latin typeface="Microsoft YaHei"/>
              </a:rPr>
              <a:t>注：出现率为该国30个文本中包含相应语步的文本比例。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31520" y="6144768"/>
            <a:ext cx="10744200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31520" y="6318504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48A"/>
                </a:solidFill>
                <a:latin typeface="Microsoft YaHei"/>
              </a:rPr>
              <a:t>基于语料库技术的中美外语院系英文简介话语比较分析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81360" y="6318504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0292" cy="8412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04　研究结果｜语步分布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24D"/>
                </a:solidFill>
                <a:latin typeface="Microsoft YaHei"/>
              </a:rPr>
              <a:t>篇幅与开篇：M05为共同核心，开篇功能不同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3364A"/>
                </a:solidFill>
                <a:latin typeface="Microsoft YaHei"/>
              </a:rPr>
              <a:t>M05的篇幅占比中位数在两国均约20%；M02更常开启中国文本，M05更常开启美国文本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73936"/>
            <a:ext cx="594360" cy="411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993392"/>
            <a:ext cx="6995160" cy="3767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1671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语步词数占比中位数（%）</a:t>
            </a:r>
          </a:p>
        </p:txBody>
      </p:sp>
      <p:sp>
        <p:nvSpPr>
          <p:cNvPr id="11" name="Oval 10"/>
          <p:cNvSpPr/>
          <p:nvPr/>
        </p:nvSpPr>
        <p:spPr>
          <a:xfrm>
            <a:off x="5413248" y="2221992"/>
            <a:ext cx="109728" cy="109728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6984" y="2139696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2748A"/>
                </a:solidFill>
                <a:latin typeface="Microsoft YaHei"/>
              </a:rPr>
              <a:t>中国</a:t>
            </a:r>
          </a:p>
        </p:txBody>
      </p:sp>
      <p:sp>
        <p:nvSpPr>
          <p:cNvPr id="13" name="Oval 12"/>
          <p:cNvSpPr/>
          <p:nvPr/>
        </p:nvSpPr>
        <p:spPr>
          <a:xfrm>
            <a:off x="6272784" y="2221992"/>
            <a:ext cx="109728" cy="109728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39696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2748A"/>
                </a:solidFill>
                <a:latin typeface="Microsoft YaHei"/>
              </a:rPr>
              <a:t>美国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67328"/>
            <a:ext cx="6537960" cy="256032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389888" y="2633472"/>
            <a:ext cx="0" cy="2852928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88720" y="24140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43278" y="2633472"/>
            <a:ext cx="0" cy="2852928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42110" y="24140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96669" y="2633472"/>
            <a:ext cx="0" cy="2852928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95501" y="24140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10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50060" y="2633472"/>
            <a:ext cx="0" cy="2852928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48892" y="24140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15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3451" y="2633472"/>
            <a:ext cx="0" cy="2852928"/>
          </a:xfrm>
          <a:prstGeom prst="line">
            <a:avLst/>
          </a:prstGeom>
          <a:ln w="635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02283" y="241401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2748A"/>
                </a:solidFill>
                <a:latin typeface="Microsoft YaHei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702052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71418" y="2807208"/>
            <a:ext cx="141360" cy="0"/>
          </a:xfrm>
          <a:prstGeom prst="line">
            <a:avLst/>
          </a:prstGeom>
          <a:ln w="1524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2811982" y="2747772"/>
            <a:ext cx="118872" cy="118872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53342" y="2747772"/>
            <a:ext cx="118872" cy="118872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2976372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M02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728951" y="3081528"/>
            <a:ext cx="731850" cy="0"/>
          </a:xfrm>
          <a:prstGeom prst="line">
            <a:avLst/>
          </a:prstGeom>
          <a:ln w="1524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401365" y="3022092"/>
            <a:ext cx="118872" cy="118872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669515" y="3022092"/>
            <a:ext cx="118872" cy="118872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3250692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017240" y="3355848"/>
            <a:ext cx="235476" cy="0"/>
          </a:xfrm>
          <a:prstGeom prst="line">
            <a:avLst/>
          </a:prstGeom>
          <a:ln w="1524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957804" y="3296412"/>
            <a:ext cx="118872" cy="118872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193280" y="3296412"/>
            <a:ext cx="118872" cy="118872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3525012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214588" y="3630168"/>
            <a:ext cx="1421139" cy="0"/>
          </a:xfrm>
          <a:prstGeom prst="line">
            <a:avLst/>
          </a:prstGeom>
          <a:ln w="1524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155152" y="3570732"/>
            <a:ext cx="118872" cy="118872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6291" y="3570732"/>
            <a:ext cx="118872" cy="118872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3799332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M05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5784607" y="3904488"/>
            <a:ext cx="352268" cy="0"/>
          </a:xfrm>
          <a:prstGeom prst="line">
            <a:avLst/>
          </a:prstGeom>
          <a:ln w="1524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077439" y="3845052"/>
            <a:ext cx="118872" cy="118872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25171" y="3845052"/>
            <a:ext cx="118872" cy="118872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9119" y="3817620"/>
            <a:ext cx="36576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38B36"/>
                </a:solidFill>
                <a:latin typeface="Microsoft YaHei"/>
              </a:rPr>
              <a:t>19.1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6603" y="3817620"/>
            <a:ext cx="36576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568A8"/>
                </a:solidFill>
                <a:latin typeface="Microsoft YaHei"/>
              </a:rPr>
              <a:t>20.6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" y="4073652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02194" y="4178808"/>
            <a:ext cx="179098" cy="0"/>
          </a:xfrm>
          <a:prstGeom prst="line">
            <a:avLst/>
          </a:prstGeom>
          <a:ln w="1524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2542758" y="4119372"/>
            <a:ext cx="118872" cy="118872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721856" y="4119372"/>
            <a:ext cx="118872" cy="118872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" y="4347972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M07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3499255" y="4453128"/>
            <a:ext cx="1374242" cy="0"/>
          </a:xfrm>
          <a:prstGeom prst="line">
            <a:avLst/>
          </a:prstGeom>
          <a:ln w="1524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4814061" y="4393692"/>
            <a:ext cx="118872" cy="118872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39819" y="4393692"/>
            <a:ext cx="118872" cy="118872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" y="4622292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M08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1852697" y="4727448"/>
            <a:ext cx="62306" cy="0"/>
          </a:xfrm>
          <a:prstGeom prst="line">
            <a:avLst/>
          </a:prstGeom>
          <a:ln w="1524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855567" y="4668012"/>
            <a:ext cx="118872" cy="118872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793261" y="4668012"/>
            <a:ext cx="118872" cy="118872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" y="4896612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M09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389888" y="5001768"/>
            <a:ext cx="866035" cy="0"/>
          </a:xfrm>
          <a:prstGeom prst="line">
            <a:avLst/>
          </a:prstGeom>
          <a:ln w="1524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330452" y="4942331"/>
            <a:ext cx="118872" cy="118872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196487" y="4942331"/>
            <a:ext cx="118872" cy="118872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2688" y="5170932"/>
            <a:ext cx="365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364A"/>
                </a:solidFill>
                <a:latin typeface="Microsoft YaHei"/>
              </a:rPr>
              <a:t>M10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196018" y="5276088"/>
            <a:ext cx="1432581" cy="0"/>
          </a:xfrm>
          <a:prstGeom prst="line">
            <a:avLst/>
          </a:prstGeom>
          <a:ln w="1524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4136582" y="5216652"/>
            <a:ext cx="118872" cy="118872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569163" y="5216652"/>
            <a:ext cx="118872" cy="118872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832" y="5513832"/>
            <a:ext cx="6446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568A8"/>
                </a:solidFill>
                <a:latin typeface="Microsoft YaHei"/>
              </a:rPr>
              <a:t>M05　课程教学与培养目标：在两组文本中均居篇幅占比首位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936992" y="1993392"/>
            <a:ext cx="3401568" cy="3767328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83879" y="2167128"/>
            <a:ext cx="2907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开篇比例（%）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83879" y="2633472"/>
            <a:ext cx="2907792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39327" y="2724912"/>
            <a:ext cx="2596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24D"/>
                </a:solidFill>
                <a:latin typeface="Microsoft YaHei"/>
              </a:rPr>
              <a:t>M02　历史沿革与学脉传承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39327" y="3017520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2748A"/>
                </a:solidFill>
                <a:latin typeface="Microsoft YaHei"/>
              </a:rPr>
              <a:t>中国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32520" y="3067812"/>
            <a:ext cx="1099748" cy="91440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87132" y="3035808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568A8"/>
                </a:solidFill>
                <a:latin typeface="Microsoft YaHei"/>
              </a:rPr>
              <a:t>63.3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39327" y="3291839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2748A"/>
                </a:solidFill>
                <a:latin typeface="Microsoft YaHei"/>
              </a:rPr>
              <a:t>美国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32520" y="3342132"/>
            <a:ext cx="404804" cy="91440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92188" y="3310127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38B36"/>
                </a:solidFill>
                <a:latin typeface="Microsoft YaHei"/>
              </a:rPr>
              <a:t>23.3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7" y="3593591"/>
            <a:ext cx="25968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3568A8"/>
                </a:solidFill>
                <a:latin typeface="Microsoft YaHei"/>
              </a:rPr>
              <a:t>中国更常以历史开篇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83879" y="3986783"/>
            <a:ext cx="2907792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39327" y="4078223"/>
            <a:ext cx="2596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24D"/>
                </a:solidFill>
                <a:latin typeface="Microsoft YaHei"/>
              </a:rPr>
              <a:t>M05　课程教学与培养目标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39327" y="4370831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2748A"/>
                </a:solidFill>
                <a:latin typeface="Microsoft YaHei"/>
              </a:rPr>
              <a:t>中国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732520" y="4421123"/>
            <a:ext cx="116403" cy="91440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03787" y="4389119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568A8"/>
                </a:solidFill>
                <a:latin typeface="Microsoft YaHei"/>
              </a:rPr>
              <a:t>6.7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39327" y="4645151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2748A"/>
                </a:solidFill>
                <a:latin typeface="Microsoft YaHei"/>
              </a:rPr>
              <a:t>美国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732520" y="4695443"/>
            <a:ext cx="463875" cy="91440"/>
          </a:xfrm>
          <a:prstGeom prst="round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51259" y="4663439"/>
            <a:ext cx="42062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38B36"/>
                </a:solidFill>
                <a:latin typeface="Microsoft YaHei"/>
              </a:rPr>
              <a:t>26.7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39327" y="4946903"/>
            <a:ext cx="25968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38B36"/>
                </a:solidFill>
                <a:latin typeface="Microsoft YaHei"/>
              </a:rPr>
              <a:t>美国更常以课程教学开篇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83879" y="5376672"/>
            <a:ext cx="29077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2748A"/>
                </a:solidFill>
                <a:latin typeface="Microsoft YaHei"/>
              </a:rPr>
              <a:t>开篇＝该语步为文本首个语步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2748A"/>
                </a:solidFill>
                <a:latin typeface="Microsoft YaHei"/>
              </a:rPr>
              <a:t>完整首次位置热图见附录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8096" y="5852160"/>
            <a:ext cx="7040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2748A"/>
                </a:solidFill>
                <a:latin typeface="Microsoft YaHei"/>
              </a:rPr>
              <a:t>注：篇幅占比＝语步词数／文本独立词数，图中取各组中位数。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31520" y="6144768"/>
            <a:ext cx="10744200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31520" y="6318504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48A"/>
                </a:solidFill>
                <a:latin typeface="Microsoft YaHei"/>
              </a:rPr>
              <a:t>基于语料库技术的中美外语院系英文简介话语比较分析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81360" y="6318504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0292" cy="8412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05　研究结果｜语言实现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9875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24D"/>
                </a:solidFill>
                <a:latin typeface="Microsoft YaHei"/>
              </a:rPr>
              <a:t>语言实现：相同语步，不同表达重心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3364A"/>
                </a:solidFill>
                <a:latin typeface="Microsoft YaHei"/>
              </a:rPr>
              <a:t>关键词差异主要体现在议题选择与语义组合，而非语步是否出现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73936"/>
            <a:ext cx="594360" cy="411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993392"/>
            <a:ext cx="5193792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93392"/>
            <a:ext cx="5193792" cy="5486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305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568A8"/>
                </a:solidFill>
                <a:latin typeface="Microsoft YaHei"/>
              </a:rPr>
              <a:t>M03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13055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使命愿景与公共价值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2459736"/>
            <a:ext cx="482803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2551176"/>
            <a:ext cx="493776" cy="237744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51176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中国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2542032"/>
            <a:ext cx="41513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364A"/>
                </a:solidFill>
                <a:latin typeface="Microsoft YaHei"/>
              </a:rPr>
              <a:t>人才培养与国际／国家指向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2816352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2748A"/>
                </a:solidFill>
                <a:latin typeface="Microsoft YaHei"/>
              </a:rPr>
              <a:t>talents · cultivate · aims · international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108960"/>
            <a:ext cx="493776" cy="237744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08960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8B36"/>
                </a:solidFill>
                <a:latin typeface="Microsoft YaHei"/>
              </a:rPr>
              <a:t>美国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099816"/>
            <a:ext cx="41513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364A"/>
                </a:solidFill>
                <a:latin typeface="Microsoft YaHei"/>
              </a:rPr>
              <a:t>公共价值与共同体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37413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2748A"/>
                </a:solidFill>
                <a:latin typeface="Microsoft YaHei"/>
              </a:rPr>
              <a:t>diversity · equity · inclusion · community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993392"/>
            <a:ext cx="5193792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993392"/>
            <a:ext cx="5193792" cy="5486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1305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568A8"/>
                </a:solidFill>
                <a:latin typeface="Microsoft YaHei"/>
              </a:rPr>
              <a:t>M04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2130552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学科价值与研究取向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27648" y="2459736"/>
            <a:ext cx="482803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27648" y="2551176"/>
            <a:ext cx="493776" cy="237744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2551176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中国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42032"/>
            <a:ext cx="41513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364A"/>
                </a:solidFill>
                <a:latin typeface="Microsoft YaHei"/>
              </a:rPr>
              <a:t>学科名称与研究范畴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816352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2748A"/>
                </a:solidFill>
                <a:latin typeface="Microsoft YaHei"/>
              </a:rPr>
              <a:t>foreign · translation · linguistics · literature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3108960"/>
            <a:ext cx="493776" cy="237744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108960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8B36"/>
                </a:solidFill>
                <a:latin typeface="Microsoft YaHei"/>
              </a:rPr>
              <a:t>美国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099816"/>
            <a:ext cx="41513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364A"/>
                </a:solidFill>
                <a:latin typeface="Microsoft YaHei"/>
              </a:rPr>
              <a:t>研究主题与兴趣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37413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2748A"/>
                </a:solidFill>
                <a:latin typeface="Microsoft YaHei"/>
              </a:rPr>
              <a:t>historical · gender · race · art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858768"/>
            <a:ext cx="5193792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858768"/>
            <a:ext cx="5193792" cy="5486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9959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568A8"/>
                </a:solidFill>
                <a:latin typeface="Microsoft YaHei"/>
              </a:rPr>
              <a:t>M05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7904" y="3995928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课程教学与培养目标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325112"/>
            <a:ext cx="482803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4400" y="4416552"/>
            <a:ext cx="493776" cy="237744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416552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中国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36192" y="4407408"/>
            <a:ext cx="41513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364A"/>
                </a:solidFill>
                <a:latin typeface="Microsoft YaHei"/>
              </a:rPr>
              <a:t>项目供给与能力培养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36192" y="4681728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2748A"/>
                </a:solidFill>
                <a:latin typeface="Microsoft YaHei"/>
              </a:rPr>
              <a:t>doctoral · teaching · talents · cross-cultural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74336"/>
            <a:ext cx="493776" cy="237744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974336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8B36"/>
                </a:solidFill>
                <a:latin typeface="Microsoft YaHei"/>
              </a:rPr>
              <a:t>美国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6192" y="4965192"/>
            <a:ext cx="41513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364A"/>
                </a:solidFill>
                <a:latin typeface="Microsoft YaHei"/>
              </a:rPr>
              <a:t>学习机会与职业发展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36192" y="5239512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2748A"/>
                </a:solidFill>
                <a:latin typeface="Microsoft YaHei"/>
              </a:rPr>
              <a:t>minor · offerings · seminar · opportunities · careers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3858768"/>
            <a:ext cx="5193792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44768" y="3858768"/>
            <a:ext cx="5193792" cy="54864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39959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568A8"/>
                </a:solidFill>
                <a:latin typeface="Microsoft YaHei"/>
              </a:rPr>
              <a:t>M08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1152" y="3995928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324D"/>
                </a:solidFill>
                <a:latin typeface="Microsoft YaHei"/>
              </a:rPr>
              <a:t>合作网络与社会服务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327648" y="4325112"/>
            <a:ext cx="4828032" cy="0"/>
          </a:xfrm>
          <a:prstGeom prst="line">
            <a:avLst/>
          </a:prstGeom>
          <a:ln w="889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327648" y="4416552"/>
            <a:ext cx="493776" cy="237744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4416552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568A8"/>
                </a:solidFill>
                <a:latin typeface="Microsoft YaHei"/>
              </a:rPr>
              <a:t>中国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4407408"/>
            <a:ext cx="41513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364A"/>
                </a:solidFill>
                <a:latin typeface="Microsoft YaHei"/>
              </a:rPr>
              <a:t>国际交流、合作与培训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4681728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2748A"/>
                </a:solidFill>
                <a:latin typeface="Microsoft YaHei"/>
              </a:rPr>
              <a:t>international · exchange · cooperation · joint · training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7648" y="4974336"/>
            <a:ext cx="493776" cy="237744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4974336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38B36"/>
                </a:solidFill>
                <a:latin typeface="Microsoft YaHei"/>
              </a:rPr>
              <a:t>美国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4965192"/>
            <a:ext cx="41513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364A"/>
                </a:solidFill>
                <a:latin typeface="Microsoft YaHei"/>
              </a:rPr>
              <a:t>海外学习与公共参与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5239512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2748A"/>
                </a:solidFill>
                <a:latin typeface="Microsoft YaHei"/>
              </a:rPr>
              <a:t>abroad · outreach · community · engagement · public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" y="576072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2748A"/>
                </a:solidFill>
                <a:latin typeface="Microsoft YaHei"/>
              </a:rPr>
              <a:t>注：页面列出代表性区分词项；完整每万词频次、log2比率与BH校正q值见附录。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31520" y="6144768"/>
            <a:ext cx="10744200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31520" y="6318504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48A"/>
                </a:solidFill>
                <a:latin typeface="Microsoft YaHei"/>
              </a:rPr>
              <a:t>基于语料库技术的中美外语院系英文简介话语比较分析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81360" y="6318504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0292" cy="8412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68A8"/>
                </a:solidFill>
                <a:latin typeface="Microsoft YaHei"/>
              </a:rPr>
              <a:t>06　下一阶段计划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68096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24D"/>
                </a:solidFill>
                <a:latin typeface="Microsoft YaHei"/>
              </a:rPr>
              <a:t>下一阶段：解释差异并转化研究成果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3364A"/>
                </a:solidFill>
                <a:latin typeface="Microsoft YaHei"/>
              </a:rPr>
              <a:t>在定量比较基础上，回答差异为何形成，并将研究发现转化为写作建议与论文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73936"/>
            <a:ext cx="594360" cy="4114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2331720" cy="3182112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" y="2350008"/>
            <a:ext cx="713232" cy="274320"/>
          </a:xfrm>
          <a:prstGeom prst="round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已完成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61488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324D"/>
                </a:solidFill>
                <a:latin typeface="Microsoft YaHei"/>
              </a:rPr>
              <a:t>现有定量基础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" y="3438144"/>
            <a:ext cx="109728" cy="109728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364992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A"/>
                </a:solidFill>
                <a:latin typeface="Microsoft YaHei"/>
              </a:rPr>
              <a:t>60个院系文本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" y="3877056"/>
            <a:ext cx="109728" cy="109728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03904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A"/>
                </a:solidFill>
                <a:latin typeface="Microsoft YaHei"/>
              </a:rPr>
              <a:t>10个核心语步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" y="4315968"/>
            <a:ext cx="109728" cy="109728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242816"/>
            <a:ext cx="16184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3364A"/>
                </a:solidFill>
                <a:latin typeface="Microsoft YaHei"/>
              </a:rPr>
              <a:t>语步分布与语言实现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976" y="4736592"/>
            <a:ext cx="1883664" cy="0"/>
          </a:xfrm>
          <a:prstGeom prst="line">
            <a:avLst/>
          </a:prstGeom>
          <a:ln w="10160">
            <a:solidFill>
              <a:srgbClr val="C9D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50976" y="4901184"/>
            <a:ext cx="1892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568A8"/>
                </a:solidFill>
                <a:latin typeface="Microsoft YaHei"/>
              </a:rPr>
              <a:t>提供可解释的文本证据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6432" y="2103120"/>
            <a:ext cx="3401568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56432" y="2103120"/>
            <a:ext cx="3401568" cy="64008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5887" y="235915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324D"/>
                </a:solidFill>
                <a:latin typeface="Microsoft YaHei"/>
              </a:rPr>
              <a:t>01　质性解释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7" y="2770632"/>
            <a:ext cx="2962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结合典型文本与语境例证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75887" y="3182112"/>
            <a:ext cx="2962656" cy="347472"/>
          </a:xfrm>
          <a:prstGeom prst="round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7" y="318211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7A78"/>
                </a:solidFill>
                <a:latin typeface="Microsoft YaHei"/>
              </a:rPr>
              <a:t>跨文化话语分析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5887" y="3639312"/>
            <a:ext cx="2962656" cy="347472"/>
          </a:xfrm>
          <a:prstGeom prst="round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5887" y="363931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7A78"/>
                </a:solidFill>
                <a:latin typeface="Microsoft YaHei"/>
              </a:rPr>
              <a:t>批评话语分析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75887" y="4096512"/>
            <a:ext cx="2962656" cy="347472"/>
          </a:xfrm>
          <a:prstGeom prst="roundRect">
            <a:avLst/>
          </a:prstGeom>
          <a:solidFill>
            <a:srgbClr val="E8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5887" y="409651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7A78"/>
                </a:solidFill>
                <a:latin typeface="Microsoft YaHei"/>
              </a:rPr>
              <a:t>社会文化语境解释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5887" y="4700016"/>
            <a:ext cx="296265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3364A"/>
                </a:solidFill>
                <a:latin typeface="Microsoft YaHei"/>
              </a:rPr>
              <a:t>重点解释差异背后的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3364A"/>
                </a:solidFill>
                <a:latin typeface="Microsoft YaHei"/>
              </a:rPr>
              <a:t>制度、政策与文化动因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2103120"/>
            <a:ext cx="3886200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8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2103120"/>
            <a:ext cx="3886200" cy="64008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2359152"/>
            <a:ext cx="3429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324D"/>
                </a:solidFill>
                <a:latin typeface="Microsoft YaHei"/>
              </a:rPr>
              <a:t>02　成果转化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2871216"/>
            <a:ext cx="3429000" cy="896112"/>
          </a:xfrm>
          <a:prstGeom prst="roundRect">
            <a:avLst/>
          </a:prstGeom>
          <a:solidFill>
            <a:srgbClr val="F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7" y="3008376"/>
            <a:ext cx="30266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8B36"/>
                </a:solidFill>
                <a:latin typeface="Microsoft YaHei"/>
              </a:rPr>
              <a:t>话语策略建议库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310128"/>
            <a:ext cx="3026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语步组织 · 核心概念 · 国际化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工具性—人文性目标平衡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3995928"/>
            <a:ext cx="3429000" cy="896112"/>
          </a:xfrm>
          <a:prstGeom prst="round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82127" y="4133087"/>
            <a:ext cx="30266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68A8"/>
                </a:solidFill>
                <a:latin typeface="Microsoft YaHei"/>
              </a:rPr>
              <a:t>研究论文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7" y="4434840"/>
            <a:ext cx="3026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整合定量结果与质性解释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3364A"/>
                </a:solidFill>
                <a:latin typeface="Microsoft YaHei"/>
              </a:rPr>
              <a:t>完成论文撰写与修改</a:t>
            </a:r>
          </a:p>
        </p:txBody>
      </p:sp>
      <p:sp>
        <p:nvSpPr>
          <p:cNvPr id="41" name="Chevron 40"/>
          <p:cNvSpPr/>
          <p:nvPr/>
        </p:nvSpPr>
        <p:spPr>
          <a:xfrm>
            <a:off x="3182112" y="3465576"/>
            <a:ext cx="146304" cy="329184"/>
          </a:xfrm>
          <a:prstGeom prst="chevron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evron 41"/>
          <p:cNvSpPr/>
          <p:nvPr/>
        </p:nvSpPr>
        <p:spPr>
          <a:xfrm>
            <a:off x="7150608" y="3465576"/>
            <a:ext cx="146304" cy="329184"/>
          </a:xfrm>
          <a:prstGeom prst="chevron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1520" y="5522976"/>
            <a:ext cx="10607040" cy="393192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522976"/>
            <a:ext cx="1020470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由“有何差异”推进到“为何形成、如何服务英文简介写作”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1520" y="6144768"/>
            <a:ext cx="10744200" cy="0"/>
          </a:xfrm>
          <a:prstGeom prst="line">
            <a:avLst/>
          </a:prstGeom>
          <a:ln w="10160">
            <a:solidFill>
              <a:srgbClr val="D8E1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1520" y="6318504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2748A"/>
                </a:solidFill>
                <a:latin typeface="Microsoft YaHei"/>
              </a:rPr>
              <a:t>基于语料库技术的中美外语院系英文简介话语比较分析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318504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748A"/>
                </a:solidFill>
                <a:latin typeface="Microsoft YaHe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0292" cy="1170432"/>
          </a:xfrm>
          <a:prstGeom prst="rect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603504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38B36"/>
                </a:solidFill>
                <a:latin typeface="Microsoft YaHei"/>
              </a:rPr>
              <a:t>本科生创新训练培育项目｜中期汇报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828800"/>
            <a:ext cx="98755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Microsoft YaHei"/>
              </a:rPr>
              <a:t>谢谢各位评委老师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770632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8E1EB"/>
                </a:solidFill>
                <a:latin typeface="Microsoft YaHei"/>
              </a:rPr>
              <a:t>恳请批评指正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3493008"/>
            <a:ext cx="713232" cy="45720"/>
          </a:xfrm>
          <a:prstGeom prst="rect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9136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8E1EB"/>
                </a:solidFill>
                <a:latin typeface="Microsoft YaHei"/>
              </a:rPr>
              <a:t>基于语料库技术的中美外语院系英文简介话语比较分析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52560" y="1280160"/>
            <a:ext cx="0" cy="3950208"/>
          </a:xfrm>
          <a:prstGeom prst="line">
            <a:avLst/>
          </a:prstGeom>
          <a:ln w="12700">
            <a:solidFill>
              <a:srgbClr val="45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381744" y="1591056"/>
            <a:ext cx="475488" cy="475488"/>
          </a:xfrm>
          <a:prstGeom prst="ellipse">
            <a:avLst/>
          </a:prstGeom>
          <a:solidFill>
            <a:srgbClr val="35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81744" y="159105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6688" y="1627632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语步分布</a:t>
            </a:r>
          </a:p>
        </p:txBody>
      </p:sp>
      <p:sp>
        <p:nvSpPr>
          <p:cNvPr id="14" name="Oval 13"/>
          <p:cNvSpPr/>
          <p:nvPr/>
        </p:nvSpPr>
        <p:spPr>
          <a:xfrm>
            <a:off x="9381744" y="2761488"/>
            <a:ext cx="475488" cy="475488"/>
          </a:xfrm>
          <a:prstGeom prst="ellipse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27614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6688" y="2798064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语言实现</a:t>
            </a:r>
          </a:p>
        </p:txBody>
      </p:sp>
      <p:sp>
        <p:nvSpPr>
          <p:cNvPr id="17" name="Oval 16"/>
          <p:cNvSpPr/>
          <p:nvPr/>
        </p:nvSpPr>
        <p:spPr>
          <a:xfrm>
            <a:off x="9381744" y="3931920"/>
            <a:ext cx="475488" cy="475488"/>
          </a:xfrm>
          <a:prstGeom prst="ellipse">
            <a:avLst/>
          </a:prstGeom>
          <a:solidFill>
            <a:srgbClr val="E3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39319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6688" y="3968496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语境解释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6384" y="5897880"/>
            <a:ext cx="10625328" cy="0"/>
          </a:xfrm>
          <a:prstGeom prst="line">
            <a:avLst/>
          </a:prstGeom>
          <a:ln w="10160">
            <a:solidFill>
              <a:srgbClr val="45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" y="6144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外语学院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3344" y="6144768"/>
            <a:ext cx="6583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AB8C6"/>
                </a:solidFill>
                <a:latin typeface="Microsoft YaHe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基于语料库技术的中美外语院系英文简介话语比较分析</dc:title>
  <dc:subject>本科生创新训练培育项目中期汇报</dc:subject>
  <dc:creator>项目组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